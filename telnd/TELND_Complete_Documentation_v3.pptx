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3454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30A9A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TELND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0A9A2"/>
                </a:solidFill>
              </a:rPr>
              <a:t>Career &amp; Talent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0" y="3840480"/>
            <a:ext cx="2194560" cy="36576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Complete Project Documentation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Version 1.0 |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A9A2"/>
                </a:solidFill>
              </a:rPr>
              <a:t>Designed by Pranta Biswas | biswaspranta@hotmail.com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630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Product Vision &amp; Overview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116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Authentication &amp; Profiles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603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AI-Powered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08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CV Box &amp; Upload System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57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Verification Badge System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2062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4206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Technical Architecture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7548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7548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4754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53035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53035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" y="5303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9144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9144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API Reference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14630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14630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Map &amp; Location System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0116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20116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Merchant &amp; Institution System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5603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25603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57800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Learning Management System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10896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3108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5780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Packages &amp; Monetization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36576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3657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5780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Standard Employer Packages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42062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42062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57800" y="4206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VIP Employer Packages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47548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47548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57800" y="4754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Pay Later Mode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53035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53035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257800" y="5303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Job Boost &amp; Ads Manager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144000" y="9144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62" name="Text 60"/>
          <p:cNvSpPr/>
          <p:nvPr/>
        </p:nvSpPr>
        <p:spPr>
          <a:xfrm>
            <a:off x="9144000" y="9144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4692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Advertising System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144000" y="14630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65" name="Text 63"/>
          <p:cNvSpPr/>
          <p:nvPr/>
        </p:nvSpPr>
        <p:spPr>
          <a:xfrm>
            <a:off x="9144000" y="14630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64692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Wallet System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144000" y="20116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68" name="Text 66"/>
          <p:cNvSpPr/>
          <p:nvPr/>
        </p:nvSpPr>
        <p:spPr>
          <a:xfrm>
            <a:off x="9144000" y="20116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64692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Premium Content Creators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144000" y="25603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71" name="Text 69"/>
          <p:cNvSpPr/>
          <p:nvPr/>
        </p:nvSpPr>
        <p:spPr>
          <a:xfrm>
            <a:off x="9144000" y="25603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646920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Escrow Payment System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144000" y="310896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74" name="Text 72"/>
          <p:cNvSpPr/>
          <p:nvPr/>
        </p:nvSpPr>
        <p:spPr>
          <a:xfrm>
            <a:off x="9144000" y="3108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23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64692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Tutor &amp; Creator Pricing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144000" y="365760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77" name="Text 75"/>
          <p:cNvSpPr/>
          <p:nvPr/>
        </p:nvSpPr>
        <p:spPr>
          <a:xfrm>
            <a:off x="9144000" y="3657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24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64692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Logo &amp; Ad-Free Benefits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144000" y="420624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30A9A2"/>
          </a:solidFill>
          <a:ln/>
        </p:spPr>
      </p:sp>
      <p:sp>
        <p:nvSpPr>
          <p:cNvPr id="80" name="Text 78"/>
          <p:cNvSpPr/>
          <p:nvPr/>
        </p:nvSpPr>
        <p:spPr>
          <a:xfrm>
            <a:off x="9144000" y="42062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646920" y="4206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Security &amp; Compliance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144000" y="475488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034548"/>
          </a:solidFill>
          <a:ln/>
        </p:spPr>
      </p:sp>
      <p:sp>
        <p:nvSpPr>
          <p:cNvPr id="83" name="Text 81"/>
          <p:cNvSpPr/>
          <p:nvPr/>
        </p:nvSpPr>
        <p:spPr>
          <a:xfrm>
            <a:off x="9144000" y="47548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26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646920" y="4754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Deployment &amp; Scaling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9144000" y="5303520"/>
            <a:ext cx="411480" cy="347472"/>
          </a:xfrm>
          <a:prstGeom prst="roundRect">
            <a:avLst>
              <a:gd name="adj" fmla="val 15789"/>
            </a:avLst>
          </a:prstGeom>
          <a:solidFill>
            <a:srgbClr val="FE793F"/>
          </a:solidFill>
          <a:ln/>
        </p:spPr>
      </p:sp>
      <p:sp>
        <p:nvSpPr>
          <p:cNvPr id="86" name="Text 84"/>
          <p:cNvSpPr/>
          <p:nvPr/>
        </p:nvSpPr>
        <p:spPr>
          <a:xfrm>
            <a:off x="9144000" y="53035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27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646920" y="5303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Implementation Timeline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Executive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Platform Overview &amp; Core Vision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What is TELND?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1F2937"/>
                </a:solidFill>
              </a:rPr>
              <a:t>TELND is a comprehensive career and talent ecosystem focused on Bangladesh. It helps people prepare for careers, discover opportunities, prove their skills, get hired, and continue growing professionally.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03454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THE CORE JOURNEY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Practice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62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906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050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338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Offer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482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62672" y="1874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793F"/>
                </a:solidFill>
              </a:rPr>
              <a:t>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Target Users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Job Seekers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3063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Find jobs, build CVs, prepare for interviews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Students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Access courses, find tutors, build skills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519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251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Employers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4251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Post jobs, search candidates, manage hiring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0632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Tutors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3063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Offer classes, manage bookings, earn income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65760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Freelancers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2648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Find projects, manage contracts, get paid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42519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00600" y="4251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Merchants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26480" y="4251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Manage institutions, students, courses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9A2"/>
                </a:solidFill>
              </a:rPr>
              <a:t>Bangladesh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 Market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5740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05740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9A2"/>
                </a:solidFill>
              </a:rPr>
              <a:t>EN + BN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05740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Languages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4904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74904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9A2"/>
                </a:solidFill>
              </a:rPr>
              <a:t>6+ Powered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74904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Features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4068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44068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9A2"/>
                </a:solidFill>
              </a:rPr>
              <a:t>77 Total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4068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DB Models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32320" y="5029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132320" y="5074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A9A2"/>
                </a:solidFill>
              </a:rPr>
              <a:t>102+ RESTful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132320" y="5486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API Endpoints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Product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058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Jo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Jobs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Job opportunities marketplace with AI matching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68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Hi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Hire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Employer recruitment and hiring tools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93192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Assess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Company assessments and evaluations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0058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Mock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Interview and test preparation platform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468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Learn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2880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Courses, tutorials, and learning content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7947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3192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Wo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 Workforce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4343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Recruitment and outsourcing services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Authentication &amp;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Multi-Method Login &amp; Comprehensive Profiles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Authentication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TELND supports multiple authentication methods for user convenience and security. Users can register and login using their preferred method.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9047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90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4173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Email + Password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Traditional email registration with strong password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99339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93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1920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Phone + OTP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9202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SMS-based one-time password verification via local carriers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4963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24231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Google OAuth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42316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Single sign-on using Google accounts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99923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2926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Facebook OAuth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292608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Single sign-on using Facebook accounts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50215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502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3429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LinkedIn OAuth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42900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Professional identity verification via LinkedIn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Candidate Profile Sections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 complete profile helps AI matching accuracy. Candidates fill in structured sections, verified and scored by the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087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08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Personal Info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Name, photo, contact details, age, location, preferred language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432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43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Education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Degrees, institutions, graduation years, GPA, certifications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9776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Skills &amp; Experience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Technical skills, soft skills, work history, achievements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5087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30A9A2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508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Career Preferences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Target roles, preferred locations, salary range, job type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6517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7432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34548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743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Portfolio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Projects, publications, code samples, creative works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886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9776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E793F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TELND Career Score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AI-computed score based on profile completeness and activity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Security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4183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41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8686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Password Hashing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8686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bcrypt with 12+ salt rounds for secure password storage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44475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1371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JWT Tokens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3716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15-minute access tokens, 7-day refresh tokens with rotation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194767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18745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MFA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18745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SMS and authenticator app based multi-factor authentication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45059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450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23774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Session Management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23774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Track active sessions, revoke on logout, device fingerprinting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8803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29535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953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28803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Rate Limiting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28803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Redis-based rate limiting to prevent brute force attacks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3832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45643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456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Input Validation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33832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Zod schema validation on all API endpoints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8862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395935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959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" y="3886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SQL Injection Prevention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66160" y="38862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Prisma ORM parameterized queries, no raw SQL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" y="446227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462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0120" y="4389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Data Encryption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566160" y="43891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AES-256 encryption for sensitive data at rest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8920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496519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4965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0120" y="48920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HTTPS/TLS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66160" y="48920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TLS 1.3 enforced for all API communication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53949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02920" y="54681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5468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0120" y="53949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CORS Policy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66160" y="53949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Strict origin validation for cross-origin requests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AI-Powered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Smart Matching, CV Builder, Mock Interviews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AI Career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The AI Career Assistant is a natural-language interface that helps users navigate the platform and make career decisions.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4447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44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Natural Language Job Search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755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Users describe what they want in plain language and get matched results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084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e.g. "I want a junior React developer role in Dhaka paying 30k+"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77063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770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CV Improvement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AI analyzes uploaded CV and suggests improvements for specific roles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4107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Reorders skills, suggests keywords, improves bullet points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409651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4096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Interview Preparation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4407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AI generates practice questions based on target role and resume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736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Provides scoring and feedback on answers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14447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1444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Skill Gap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73168" y="1755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Compare current skills against target role requirements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2084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Recommends specific courses and learning paths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6974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73168" y="277063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770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Salary Intelligence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73168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Market-rate estimates based on role, location, experience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34107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Bangladesh-specific salary data with trend analysis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409651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4096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Job Alerts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73168" y="4407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AI-powered job recommendations based on profile and behavior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73168" y="4736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Daily digest with explainability scores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AI Smart Job Matching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The matching engine uses multiple signals to rank candidates and jobs. Scores are explainable so users understand why they match.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3560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356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Skills 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371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Technical and soft skills alignment with job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02996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299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Experience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19659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Years of relevant work experience and seniority level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62432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243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Education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560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Degree relevance, institution ranking, GPA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21868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2186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Location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154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Geographic compatibility and commute distance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81304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813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Salary Range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749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Candidate expectations vs employer budget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434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440740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4074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Activity Score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4343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Profile completeness, application history,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AI CV Builder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960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Professional Templates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Multiple ATS-friendly templates optimized for different industries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0574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AI Content 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Auto-generate bullet points, summaries, and skill descriptions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Job-Specific Optimization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566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Tailor CV content to match specific job descriptions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4251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PDF Export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High-quality PDF output with consistent formatting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8686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960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Version Management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Track and manage multiple CV versions for different roles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9659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20574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ATS Score Check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Analyze how well the CV will perform with applicant tracking systems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0632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73168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Keyword Optimization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73168" y="3566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Suggest missing keywords based on job market analysis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41605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73168" y="4251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44" name="Text 42"/>
          <p:cNvSpPr/>
          <p:nvPr/>
        </p:nvSpPr>
        <p:spPr>
          <a:xfrm>
            <a:off x="4773168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5780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Multi-Language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Create CVs in both English and Bengali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AI Mock Interviews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Practice interviews with AI evaluation. Supports voice, video, and text modes with real-time scoring and feedback.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63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Text Interview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Type answers to AI-generated questions. Best for preparation.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Answers evaluated for content, relevance, structure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463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Voice Interview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Speak answers using microphone. AI transcribes and evaluates.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60604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Analyzes fluency, vocabulary, confidence markers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1463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Video Interview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Record video responses. AI evaluates body language cues.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260604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7220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Eye contact, facial expressions, posture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4548"/>
                </a:solidFill>
              </a:rPr>
              <a:t>Scoring Criteria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A9A2"/>
                </a:solidFill>
              </a:rPr>
              <a:t>Content Accuracy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Correctness and relevance of answers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5740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A9A2"/>
                </a:solidFill>
              </a:rPr>
              <a:t>Communication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Clarity, structure, and persuasiveness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4904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A9A2"/>
                </a:solidFill>
              </a:rPr>
              <a:t>Confidence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Speech pace, filler words, decisiveness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4068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A9A2"/>
                </a:solidFill>
              </a:rPr>
              <a:t>Technical Depth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068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Domain-specific knowledge demonstration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32320" y="4572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A9A2"/>
                </a:solidFill>
              </a:rPr>
              <a:t>Cultural Fit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Alignment with Bangladeshi work culture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Technical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System Design &amp; Infrastructure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30A9A2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 Web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React 19 | Tailwind CSS | TypeScript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E793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 Mobile 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Dart | Riverpod | Material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4548"/>
                </a:solidFill>
              </a:rPr>
              <a:t>v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2286000"/>
            <a:ext cx="6400800" cy="685800"/>
          </a:xfrm>
          <a:prstGeom prst="roundRect">
            <a:avLst>
              <a:gd name="adj" fmla="val 10667"/>
            </a:avLst>
          </a:prstGeom>
          <a:solidFill>
            <a:srgbClr val="034548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2286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Hono API Gateway (TypeScript)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Auth | Validation | Rate Limiting | CORS | Logging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4548"/>
                </a:solidFill>
              </a:rPr>
              <a:t>v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30A9A2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 + PostGIS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Primary Database</a:t>
            </a:r>
            <a:endParaRPr lang="en-US" sz="800" dirty="0"/>
          </a:p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Spatial queries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3429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E793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Redis + BullMQ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Cache &amp; Job Queues</a:t>
            </a:r>
            <a:endParaRPr lang="en-US" sz="800" dirty="0"/>
          </a:p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Session storage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34548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Cloudflare R2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Object Storage</a:t>
            </a:r>
            <a:endParaRPr lang="en-US" sz="800" dirty="0"/>
          </a:p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File uploads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03720" y="3429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30A9A2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Maps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Geocoding</a:t>
            </a:r>
            <a:endParaRPr lang="en-US" sz="800" dirty="0"/>
          </a:p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Distance calc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709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WebSocket Server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Real-time messaging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46634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06040" y="4709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Background Workers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0604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Email, SMS, notifications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46634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4709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SSLCommerz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Payment gateway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03720" y="46634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03720" y="4709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Cloudflare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CDN &amp; DDoS protection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 (Web)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0" y="86868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Next.js 15, React 19, TypeScript, Tailwind CSS, Zustand, React Query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344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 (Mobile)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123444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Flutter 3.x, Dart, Riverpod, GoRouter, Material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60020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002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Backend API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160020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Hono (TypeScript), Node.js 20+, ts-node, tsx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659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96596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PostgreSQL 15+, PostGIS 3.x for geospatial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3172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Cache &amp; Queue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60320" y="233172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Redis 7.x (Upstash), BullMQ for background jobs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69748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269748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Prisma with auto-generated migrations and type safety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632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306324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Zod schemas shared between web, mobile, and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4290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 Storage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342900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Cloudflare R2 (S3-compatible, no egress fees)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79476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7947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Maps &amp; Geocoding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0320" y="379476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Google Maps API, Geocoding, Directions, Places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16052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Payments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416052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SSLCommerz (cards, mobile banking), bKash, Nagad, Rocket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52628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52628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CDN &amp; Security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60320" y="452628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Cloudflare (CDN, DDoS, WAF, DNS)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8920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Services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60320" y="489204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OpenAI API for career assistant, CV builder, matching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525780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52578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Monitoring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60320" y="525780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Sentry for errors, custom analytics dashboard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5623560"/>
            <a:ext cx="201168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56235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Email/SMS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60320" y="5623560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Nodemailer, Twilio SMS for OTP and notifications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Database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77 Models | PostgreSQL + PostGIS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Database Models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19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34548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Total: 77 Database Models | 12 Categories | Full Audit Trail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User &amp; Auth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User, Capability, Session, Verification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Candidate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CandidateProfile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Employer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Company, Job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Job 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Application, SavedJob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15087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9476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Tutor System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Profile, Booking, Class, Exam, Report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2560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375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10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79476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Merchant System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Staff, Student, Course, Attendance, Fee...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3611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375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10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79476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LMS System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Course, Module, Lesson, Enrollment, Quiz...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46120" y="46634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375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79476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Packages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3756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Package, Subscription, Coupon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26480" y="15087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6751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Payment System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Transaction, Refund, Wallet, Invoice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26480" y="2560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179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67512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Admin System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Role, User, Action, Flag, Maintenance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26480" y="3611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179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67512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Support System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Ticket, Message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26480" y="46634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2179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A9A2"/>
                </a:solidFill>
              </a:rPr>
              <a:t>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667512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Map System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Pin, View, Bookmark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Key Database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3268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3268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86868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email, phone, name, role, status, preferences, careerScore, isVerified, createdAt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3560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3560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Job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137160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title, description, companyId, salary, location, type, status, skills, createdAt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93852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3852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Company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187452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name, description, logo, industry, size, location, website, createdAt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4414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44144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237744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jobId, candidateId, status, coverLetter, appliedAt, updatedAt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94436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94436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Package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28803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name, type, price, features, limits, isActive, createdAt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3832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44728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44728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PaymentTransaction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338328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userId, amount, method, status, reference, createdAt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95020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95020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TutorBooking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388620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tutorId, studentId, subject, date, time, status, amount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445312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45312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LMSCourse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0" y="438912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title, description, instructorId, price, category, status, rating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" y="49560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95604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Merchant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0" y="489204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name, type, description, location, contact, status, createdAt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" y="53949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" y="545896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545896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SupportTicket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86000" y="53949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id, userId, subject, status, priority, category, createdAt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API Reference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102+ Endpoints | RESTful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API Endpoints by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418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Auth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45920" y="941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register, login, logout, refresh-token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762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Jobs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45920" y="2176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list, detail, search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107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10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45920" y="34107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profile, update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6451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45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Companies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45920" y="4645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9834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list, detail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46120" y="868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37560" y="9418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26280" y="941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15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users, roles, analytics, flags, settings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21031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21762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26280" y="2176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pins, search, geocode, views, bookmarks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46120" y="333756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37560" y="34107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39" name="Text 37"/>
          <p:cNvSpPr/>
          <p:nvPr/>
        </p:nvSpPr>
        <p:spPr>
          <a:xfrm>
            <a:off x="3337560" y="3410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Packages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26280" y="34107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10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37560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list, subscribe, manage, coupons, invoices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46120" y="4572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337560" y="46451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4645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Support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26280" y="4645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37560" y="49834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tickets, messages, faq, feedback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26480" y="868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9418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Merchant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06640" y="941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20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1280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staff, students, courses, attendance, fees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26480" y="21031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21762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54" name="Text 52"/>
          <p:cNvSpPr/>
          <p:nvPr/>
        </p:nvSpPr>
        <p:spPr>
          <a:xfrm>
            <a:off x="621792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LMS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06640" y="2176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16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courses, modules, lessons, enrollments, quizzes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26480" y="333756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17920" y="34107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59" name="Text 57"/>
          <p:cNvSpPr/>
          <p:nvPr/>
        </p:nvSpPr>
        <p:spPr>
          <a:xfrm>
            <a:off x="6217920" y="3410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Analytics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406640" y="34107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6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17920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dashboard, users, jobs, revenue, reports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26480" y="4572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17920" y="46451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64" name="Text 62"/>
          <p:cNvSpPr/>
          <p:nvPr/>
        </p:nvSpPr>
        <p:spPr>
          <a:xfrm>
            <a:off x="6217920" y="4645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Tutor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06640" y="4645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217920" y="49834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profile, bookings, classes, earnings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Map &amp; Location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Google Maps | PostGIS | Privacy Tiers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Location Display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TELND uses privacy-aware location display. Different user types show different levels of location detail.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6304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EXACT 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Full address + precise coordinates displayed on map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Used for: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Jobs — company office address</a:t>
            </a:r>
            <a:endParaRPr lang="en-US" sz="900" dirty="0"/>
          </a:p>
          <a:p>
            <a:pPr indent="0" marL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Companies — headquarters location</a:t>
            </a:r>
            <a:endParaRPr lang="en-US" sz="900" dirty="0"/>
          </a:p>
          <a:p>
            <a:pPr indent="0" marL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Merchants — institution address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463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APPROXIMATE LOCATION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Area name + coordinates with ±500m offset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Used for: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Tutors — general area, not exact home</a:t>
            </a:r>
            <a:endParaRPr lang="en-US" sz="900" dirty="0"/>
          </a:p>
          <a:p>
            <a:pPr indent="0" marL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Freelancers — district-level location</a:t>
            </a:r>
            <a:endParaRPr lang="en-US" sz="900" dirty="0"/>
          </a:p>
          <a:p>
            <a:pPr indent="0" marL="0">
              <a:lnSpc>
                <a:spcPts val="14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Creators — city/area name only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Map Features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Interactive map with clustered markers for performance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Filter by type: jobs, tutors, merchants, creators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Search by location name or area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Bookmark favorite locations for quick access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Auto-sync map pins with listing database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4800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Geocoding results cached in Redis (24h TTL)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5303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PostGIS spatial queries for proximity search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5303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Mobile: Map view + list view toggle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Merchant &amp; Institution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Coaching Centers | Schools | Universities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Merchant Institution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418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41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Coaching Centers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Tutoring and test prep centers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9418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3454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41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Schools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Primary and secondary schools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418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E793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941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Colleges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Higher secondary institutions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7830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18562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30A9A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856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Universities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Degree-granting institutions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17830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18562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34548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1856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Training Institutes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Vocational and skill development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7830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8562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856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Language Centers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English, Arabic, and other languages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Staff Roles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33832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3832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Owner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Full control over institution, billing, and all features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3832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33832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Admin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Manage staff, students, courses, and announcements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4114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Teacher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View assigned classes, mark attendance, upload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1148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4114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Accountant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2648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Manage fees, payments, and financial reports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Core Features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576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Student Management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Course Management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Attendance Tracking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7512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Exam &amp; Results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Fee Collection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6888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Announcements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Routine/Schedule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&gt; Reports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Learning Management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Courses | Live Classes | Assessments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LMS Core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914400"/>
            <a:ext cx="1773936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9144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Course Management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Modules &amp; sections structure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Video, Text, Quiz lesson types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Categories and tags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Prerequisites and ordering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Draft/Published status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86868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42032" y="914400"/>
            <a:ext cx="1773936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7" name="Text 15"/>
          <p:cNvSpPr/>
          <p:nvPr/>
        </p:nvSpPr>
        <p:spPr>
          <a:xfrm>
            <a:off x="2542032" y="9144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Live Classes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78608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WebRTC real-time video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78608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Screen sharing capability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7860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Chat during class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860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Session recording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7860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Attendance tracking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86868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914400"/>
            <a:ext cx="1773936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152" y="9144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Assessments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81728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Multiple choice quizzes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81728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File upload assignments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8172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Auto-grading system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8172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Peer review option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8172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Time-limited exams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75120" y="86868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48272" y="914400"/>
            <a:ext cx="1773936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33" name="Text 31"/>
          <p:cNvSpPr/>
          <p:nvPr/>
        </p:nvSpPr>
        <p:spPr>
          <a:xfrm>
            <a:off x="6748272" y="9144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Progress Tracking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84848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Lesson completion 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84848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Quiz scores and attempts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8484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Certificate generation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8484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Learning analytics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8484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Instructor dashboard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LMS Monetization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Course Sales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Instructors sell courses, platform takes 20-30% commission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468880" y="4892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6032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Live Class Fees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6032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Per-session or subscription-based live class access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0" y="4892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6344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Certificates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Paid certificates for course completion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675120" y="4892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76656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Subscriptions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6656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Monthly access to all courses in a category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Packages &amp; Monetization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User | Employer | Merchant Tiers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29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Subscription Packages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Packages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Free: Basic job search, limited CV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Pro: AI matching, unlimited CV, priority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Premium: All features, mock interviews, career coaching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0A9A2"/>
                </a:solidFill>
              </a:rPr>
              <a:t>0-500 BDT/mo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 Employer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৳500/job — Basic listing, analytics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5848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৳1,000/job — Featured, advanced analytics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55848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৳1,200/job — Sponsored, full analytics, boost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3756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793F"/>
                </a:solidFill>
              </a:rPr>
              <a:t>Per Job Pricing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8686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VIP Employer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Silver: ৳5K/mo (10 jobs)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36208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Gold: ৳15K/mo (50 jobs)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36208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Platinum: ৳40K/mo (Unlimited)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36208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Enterprise: Custom pricing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Monthly Plans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Revenue Streams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Subscriptions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Monthly/annual fees for premium features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46634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3756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Transaction Fees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3-5% on escrow payments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46634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Course Commissions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20-30% on course sales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53035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5303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Featured Listings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37360" y="5303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Promoted jobs and profiles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46120" y="53035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337560" y="5303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API Access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5303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Paid API access for enterprises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VIP Employer Packages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Silver | Gold | Platinum | Enterprise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VIP Employer Packages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965960" cy="4754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9144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Silver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5,000 BDT/mo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737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10 job listings/month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Basic candidate 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Standard analytics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Email support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32735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Basic company profile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868680"/>
            <a:ext cx="1965960" cy="4754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87752" y="9144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2587752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87752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793F"/>
                </a:solidFill>
              </a:rPr>
              <a:t>15,000 BDT/mo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24328" y="1737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50 job listings/month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24328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Advanced candidate search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24328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Priority support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24328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Detailed analytics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24328" y="32735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Featured company profile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24328" y="3657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Candidate recommendations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868680"/>
            <a:ext cx="1965960" cy="4754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9144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Platinum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40,000 BDT/mo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1737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Unlimited job listings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73168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Dedicated account manager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73168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API access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3168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Custom branding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73168" y="32735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Advanced analytics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3168" y="3657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Bulk candidate outreach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73168" y="40416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Interview scheduling tools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12280" y="868680"/>
            <a:ext cx="1965960" cy="4754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85432" y="9144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39" name="Text 37"/>
          <p:cNvSpPr/>
          <p:nvPr/>
        </p:nvSpPr>
        <p:spPr>
          <a:xfrm>
            <a:off x="6885432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85432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A9A2"/>
                </a:solidFill>
              </a:rPr>
              <a:t>Custom Pricing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22008" y="1737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Full platform access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22008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Custom solutions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22008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SLA guarantee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22008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White-label options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22008" y="32735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Dedicated support team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22008" y="3657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Custom integrations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22008" y="40416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1F2937"/>
                </a:solidFill>
              </a:rPr>
              <a:t>&gt; On-site training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Pay Later Mode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Use Now, Pay Later — On Any Package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Pay Later Mode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Employers can access ANY feature or package and pay later. Bills generated after usage with flexible payment terms.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50876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Employer uses features → Usage tracked → Bill generated → Pay later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50876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 Terms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Net 15 or Net 30 days (admin configurable per company)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74320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Credit Limit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Set by admin based on company history and trust level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274320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Late Penalties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Configurable by admin — percentage or flat fee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9776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 Subscription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bKash API integration planned for automatic payments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886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73168" y="39776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Any Package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3168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Pay Later works with Standard, VIP, Boost, and Ads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Job Boost &amp; Ads Manager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Pay-As-You-Go Job Promotion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Job Boost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Employers boost job posts to reach top matching candidates. Full ads manager with analytics, targeting, and budget controls.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Deposit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Minimum wallet deposit (configurable)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41732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508760"/>
            <a:ext cx="548640" cy="54864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06040" y="2103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Set targeting: location, skills, experience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508760"/>
            <a:ext cx="548640" cy="54864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2103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Queue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Boost queue runs once daily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12280" y="141732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52360" y="1508760"/>
            <a:ext cx="548640" cy="5486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2103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Report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Full analytics: impressions, clicks, applications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Boost Analytics Dashboard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3375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Impressions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333756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How many users saw the boosted job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33375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3756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Unique Views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333756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Distinct users who viewed the listing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33375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1792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Click Rate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333756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Click-through rate percentage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40233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4023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Applications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37360" y="402336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Number of applications received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46120" y="40233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37560" y="4023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Cost Per Click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17720" y="402336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Average cost per click breakdown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26480" y="40233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17920" y="4023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Daily Spend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0" y="402336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Tracking daily budget consumption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Targeting Options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521208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57200" y="5257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Location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5532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District, division, nationwide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14600" y="521208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606040" y="5257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Skills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606040" y="5532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Match specific skill sets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521208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54880" y="5257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Experience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54880" y="5532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Entry, mid, senior levels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12280" y="521208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903720" y="5257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Education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03720" y="5532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Degree level, field of study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Advertising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Platform Ads | Google Ads | Ad-Free Users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Advertising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TELND operates a dual advertising model: platform-sold ads and Google Ads integration, with ad-free experience for paid users.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087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Platform Ads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41732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Companies purchase banner ads, sponsored content, and featured placements directly from TELND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517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Ads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56032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Google AdSense shown to free users only — generates revenue from free user traffic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947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Ad-Free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70332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Pro users: reduced ads. Premium users: completely ad-free — incentivizes upgrades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Ad Revenue Model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52578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Free Users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5778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See Google Ads + Platform Ads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52578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06040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Pro Users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55778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Reduced Ads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52578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Premium Users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55778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Completely Ad-Free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12280" y="52578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03720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Companies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55778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Purchase Ad Placements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Wallet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Employer Wallet | Deposits | Transactions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39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Wallet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Every employer gets a wallet. Top up via bKash, Nagad, Rocket, or card. Use balance for job posting, boost, ads, and premium features.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27048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27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Deposit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4173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up via SSLCommerz — bKash, Nagad, Rocket, card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167128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671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Deduction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2057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Automatic: per-job, per-boost, per-ad, per-feature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07208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072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Refund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26974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If job removed or dispute won — funds returned to wallet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447288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4472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3375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Employer to employer (admin configurable)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087368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87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Withdrawal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3977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Request payout — admin approval required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Billing &amp; Invoices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51663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5212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Monthly Invoice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5486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Auto-generated with full breakdown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14600" y="51663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06040" y="5212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PDF Download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5486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 accounting and tax purposes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51663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5212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Tax Calc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5486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VAT, SD as applicable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12280" y="51663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03720" y="5212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Min Deposit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5486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Configurable by admin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CV Box &amp; Upload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PDF/Image CV | Auto-Extract | Multiple CVs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CV Box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Upload PDF or image CVs. AI extracts all information automatically. Store multiple CVs for different job types.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5087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1417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Upload existing CV as PDF or image (JPG/PNG)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5087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Extract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417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OCR reads all info — education, experience, skills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6517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651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Auto-Populate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37360" y="2560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Profile fields filled automatically from CV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26517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651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CV Box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Store multiple CVs for different job types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7947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Smart Apply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3703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Select CV when applying; auto-applies if only one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703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73168" y="37947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Version Control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3703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Track CV versions, preview before applying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Application Flow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52578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57607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Upload CV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57400" y="52578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0" y="5303520"/>
            <a:ext cx="457200" cy="45720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48840" y="57607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AI Extracts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49040" y="52578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51960" y="5303520"/>
            <a:ext cx="457200" cy="45720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43" name="Text 41"/>
          <p:cNvSpPr/>
          <p:nvPr/>
        </p:nvSpPr>
        <p:spPr>
          <a:xfrm>
            <a:off x="425196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840480" y="57607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Profile Set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52578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0" y="5303520"/>
            <a:ext cx="457200" cy="45720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532120" y="57607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Select CV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32320" y="52578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635240" y="5303520"/>
            <a:ext cx="457200" cy="45720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51" name="Text 49"/>
          <p:cNvSpPr/>
          <p:nvPr/>
        </p:nvSpPr>
        <p:spPr>
          <a:xfrm>
            <a:off x="76352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223760" y="57607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Apply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Verification Badge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Optional | Multi-Tier | Admin-Managed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Verification Badges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Both employers AND job seekers can optionally verify their accounts. Verified accounts display a badge on profile and listings.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1508760"/>
            <a:ext cx="548640" cy="5486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Phone Verified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OTP confirmation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508760"/>
            <a:ext cx="548640" cy="54864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06040" y="2103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Email Verified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331720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Email link confirmation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508760"/>
            <a:ext cx="548640" cy="54864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2103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793F"/>
                </a:solidFill>
              </a:rPr>
              <a:t>Identity Verified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331720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NID/Passport OCR + face match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1228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1508760"/>
            <a:ext cx="548640" cy="5486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2103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Company Verified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331720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Trade license + registration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Admin Verification Features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" y="3063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Manual Verification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3063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Admin can manually mark companies as verified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30632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3063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New Companies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063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Admin can verify newly registered companies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" y="3749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Known Companies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0" y="3749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Admin can verify established/well-known companies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73168" y="3749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Badge Display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3749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Badge visible on profile, job posts, and search results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Tutor &amp; Creator Pricing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Free Search &amp; Hiring | Pay Only for Premium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Tutor &amp; Creator Pricing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Tutors and Creators enjoy completely free search, find, and hiring. They only pay for payment processing and advanced features.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46304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FREE Services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Profile creation &amp; listing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Search &amp; discovery by students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Receiving inquiries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Hiring &amp; project assignment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Basic analytics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3168" y="146304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PAID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Payment processing fee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Premium profile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Advanced analytics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3337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Marketing/promotion tools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&gt; Withdrawal processing fee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TELND takes commission only on transactions processed through the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Pro/Premium Benefits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Logo Colors | Ad-Free | Priority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Subscriber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48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Logo Customization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Free: Default logo display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Pro: Accent color treatment (theme-aware)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Premium: Full brand color display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8686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Ad-Free Experience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Free users: See Google Ads + Platform Ads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Pro users: Reduced ads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Premium users: Completely ad-free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8686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91440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914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Priority Features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Priority in search results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Faster customer support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Early access to new features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36208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Advanced analytics &amp; reporting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Premium Creator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49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A9A2"/>
                </a:solidFill>
              </a:rPr>
              <a:t>70/30 Split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Creator keeps 70%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057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Self-managed 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441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Platform listing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825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Basic 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2095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Standard support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593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Payment after 30 days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8686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9144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FE793F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Premium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793F"/>
                </a:solidFill>
              </a:rPr>
              <a:t>80/20 Split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1645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Creator keeps 80%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2057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TELND-handled deals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2441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Contract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2825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Payment processing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32095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QA support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55848" y="3593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Marketing assistance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55848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Payment after 15 days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8686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9144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03454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Elite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85/15 Split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1645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Creator keeps 85%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2057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Dedicated account manager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6208" y="2441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Co-marketing campaigns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2825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Priority listing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36208" y="32095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Custom pricing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3593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Direct client matching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36208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&gt; Payment after 7 days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5120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4548"/>
                </a:solidFill>
              </a:rPr>
              <a:t>TELND-Handled Deals (Premium &amp; Elite)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5440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TELND negotiates contracts, manages payments, handles QA, provides marketing support, and resolves disputes. Platform takes 10-15% service fee on top of the revenue split.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Escrow Payment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Secure Fund Holding | Milestone Releases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50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Escrow Payment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51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960120"/>
            <a:ext cx="548640" cy="5486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A9A2"/>
                </a:solidFill>
              </a:rPr>
              <a:t>Deposit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Client deposits funds into TELND escrow account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8686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60120"/>
            <a:ext cx="548640" cy="54864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0604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793F"/>
                </a:solidFill>
              </a:rPr>
              <a:t>Work Phase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Creator/Freelancer completes the work or milestone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960120"/>
            <a:ext cx="548640" cy="54864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4548"/>
                </a:solidFill>
              </a:rPr>
              <a:t>Review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Client reviews deliverables and approves/rejects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12280" y="8686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960120"/>
            <a:ext cx="548640" cy="5486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A9A2"/>
                </a:solidFill>
              </a:rPr>
              <a:t>Release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Funds released to creator minus platform fee (3-5%)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Escrow Features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2971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Milestone Payments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971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Break projects into milestones with separate escrow for each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9718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2971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Dispute Resolution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2971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Mediation process if client and creator disagree on deliverables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6576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Auto-Release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0" y="3657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Funds auto-released after review period if no dispute raised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36576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Partial Release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3657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Release payment for approved milestones while others are disputed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3434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5488" y="4343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Refund Protection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0" y="4343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Full refund to client if work is not delivered as specified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43434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73168" y="4343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Fee Structure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4343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3-5% platform fee deducted on release, transparent to both parties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5120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Transaction Fees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548640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5532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Premium Creator Deals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5760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793F"/>
                </a:solidFill>
              </a:rPr>
              <a:t>5%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514600" y="548640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606040" y="5532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Freelance Projects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606040" y="5760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793F"/>
                </a:solidFill>
              </a:rPr>
              <a:t>3-5%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663440" y="548640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54880" y="5532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B2B Services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5760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793F"/>
                </a:solidFill>
              </a:rPr>
              <a:t>2-4%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12280" y="548640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903720" y="5532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Course Sales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03720" y="5760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793F"/>
                </a:solidFill>
              </a:rPr>
              <a:t>20-30%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Security &amp; Compliance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Multi-Layer Protection | Data Privacy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52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Security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53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3268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3268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8686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1: Input Validation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86868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Zod schema validation on every API endpoint, reject invalid data early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43560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43560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13716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2: Authentication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137160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JWT with short-lived access tokens (15min), refresh token rotation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193852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193852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18745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3: Authorization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18745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Role-based access control (RBAC) with permission per module/action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44144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44144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23774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4: Rate Limiting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237744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Redis-based rate limiting: 100 req/min general, 5 req/min for auth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8803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294436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94436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28803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5: SQL Injection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28803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Prisma ORM parameterized queries, no raw SQL in production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3832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44728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44728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" y="33832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6: Encryption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338328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AES-256 for data at rest, TLS 1.3 for data in transit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8862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395020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95020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" y="38862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7: DDoS Protection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06240" y="388620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Cloudflare DDoS mitigation, WAF rules, bot detection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" y="445312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45312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0120" y="43891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8: Document Security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06240" y="43891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Encrypted storage for sensitive documents, signed URLs for access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8920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495604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495604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0120" y="48920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9: Audit Logging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206240" y="489204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admin actions logged with IP, timestamp, and user agent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53949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02920" y="5458968"/>
            <a:ext cx="32004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545896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0120" y="53949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Layer 10: Data Privacy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06240" y="53949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GDPR-compliant data handling, right to deletion, data export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Deployment &amp; Scaling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Cloud Infrastructure | Auto-Scaling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54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Deployment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55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96012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60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960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AWS RDS / Supabase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Primary database with PostGIS extension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19456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Upstash / Redis Cloud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Serverless Redis for cache and queues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42900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 Storage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Cloudflare R2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S3-compatible, zero egress fees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96012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960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CDN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960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Cloudflare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Global CDN with DDoS protection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1031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219456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 Hosting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Vercel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Next.js optimized, edge functions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337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342900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Hosting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Railway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Auto-scaling Hono API containers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548"/>
                </a:solidFill>
              </a:rPr>
              <a:t>Scaling Strategy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50749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5120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Horizontal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394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Multiple API instances, auto-scaling workers, load balancer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14600" y="50749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606040" y="5120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Vertical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606040" y="5394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Database upgrade paths, Redis memory scaling, API resource increase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50749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54880" y="5120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Database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5394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Read replicas for queries, connection pooling, query optimization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12280" y="50749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03720" y="5120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A9A2"/>
                </a:solidFill>
              </a:rPr>
              <a:t>Caching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03720" y="5394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Redis for sessions, API responses, geocoding, frequently accessed data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Implementation Timeline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0A9A2"/>
                </a:solidFill>
              </a:rPr>
              <a:t>10 Phases | 42+ Weeks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56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548"/>
                </a:solidFill>
              </a:rPr>
              <a:t>Development Timeline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32004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TELND | Confidential | 57 / 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6309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0A9A2"/>
                </a:solidFill>
              </a:rPr>
              <a:t>Design by Pranta Biswas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3268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3268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868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Planning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93268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9326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1-2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34640" y="9326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1-2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0" y="8686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Requirements, architecture, team setup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716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43560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43560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17320" y="13716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143560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14356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3-6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34640" y="14356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3-6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0" y="137160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Auth, profiles, DB setup, API scaffolding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18745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193852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193852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17320" y="18745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MVP Jobs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193852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19385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7-12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34640" y="19385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7-12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0" y="187452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Job listings, search, applications, basic matching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3774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244144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44144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417320" y="2377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Smart Matching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244144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2834640" y="24414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13-16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834640" y="24414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13-16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14800" y="23774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matching, scoring, explainability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28803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" y="294436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294436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417320" y="28803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Recruitment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4640" y="294436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0" y="29443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17-21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834640" y="29443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17-21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14800" y="28803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Company profiles, hiring pipeline, messaging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38328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344728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344728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417320" y="33832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Assessment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34640" y="344728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2834640" y="34472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22-26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834640" y="34472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22-26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114800" y="33832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Mock interviews, quizzes, skill assessment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8862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02920" y="395020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57" name="Text 55"/>
          <p:cNvSpPr/>
          <p:nvPr/>
        </p:nvSpPr>
        <p:spPr>
          <a:xfrm>
            <a:off x="502920" y="395020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417320" y="38862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AI Career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834640" y="395020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2834640" y="39502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27-31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834640" y="39502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27-31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114800" y="388620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CV builder, career assistant, salary intel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3891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02920" y="445312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034548"/>
          </a:solidFill>
          <a:ln/>
        </p:spPr>
      </p:sp>
      <p:sp>
        <p:nvSpPr>
          <p:cNvPr id="65" name="Text 63"/>
          <p:cNvSpPr/>
          <p:nvPr/>
        </p:nvSpPr>
        <p:spPr>
          <a:xfrm>
            <a:off x="502920" y="445312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417320" y="43891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Learning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834640" y="445312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2834640" y="44531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32-36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834640" y="44531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32-36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114800" y="438912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LMS, courses, live classes, certificates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48920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02920" y="495604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E793F"/>
          </a:solidFill>
          <a:ln/>
        </p:spPr>
      </p:sp>
      <p:sp>
        <p:nvSpPr>
          <p:cNvPr id="73" name="Text 71"/>
          <p:cNvSpPr/>
          <p:nvPr/>
        </p:nvSpPr>
        <p:spPr>
          <a:xfrm>
            <a:off x="502920" y="495604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8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417320" y="48920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Workforce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834640" y="495604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2834640" y="49560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Weeks 37-42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834640" y="49560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Weeks 37-42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114800" y="48920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Outsourcing, B2B, merchant system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53949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502920" y="5458968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30A9A2"/>
          </a:solidFill>
          <a:ln/>
        </p:spPr>
      </p:sp>
      <p:sp>
        <p:nvSpPr>
          <p:cNvPr id="81" name="Text 79"/>
          <p:cNvSpPr/>
          <p:nvPr/>
        </p:nvSpPr>
        <p:spPr>
          <a:xfrm>
            <a:off x="502920" y="545896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9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417320" y="53949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4548"/>
                </a:solidFill>
              </a:rPr>
              <a:t>Scale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834640" y="5458968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2834640" y="54589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Ongoing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834640" y="54589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Ongoing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114800" y="53949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Performance, monitoring, new features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3454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114800"/>
            <a:ext cx="3657600" cy="3657600"/>
          </a:xfrm>
          <a:prstGeom prst="ellipse">
            <a:avLst/>
          </a:prstGeom>
          <a:solidFill>
            <a:srgbClr val="30A9A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A9A2"/>
                </a:solidFill>
              </a:rPr>
              <a:t>TELND — Career &amp; Talent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Designed by Pranta Biswas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A9A2"/>
                </a:solidFill>
              </a:rPr>
              <a:t>biswaspranta@hotmail.com | 01316397072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Founder of TELND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Proprietary —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TELND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TELND Complete Documentation</dc:title>
  <dc:subject>PptxGenJS Presentation</dc:subject>
  <dc:creator>Pranta Biswas</dc:creator>
  <cp:lastModifiedBy>Pranta Biswas</cp:lastModifiedBy>
  <cp:revision>1</cp:revision>
  <dcterms:created xsi:type="dcterms:W3CDTF">2026-09-12T20:21:54Z</dcterms:created>
  <dcterms:modified xsi:type="dcterms:W3CDTF">2026-09-12T20:21:54Z</dcterms:modified>
</cp:coreProperties>
</file>