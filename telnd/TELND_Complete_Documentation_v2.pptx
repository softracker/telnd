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1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917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3454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30A9A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TELND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0A9A2"/>
                </a:solidFill>
              </a:rPr>
              <a:t>Career &amp; Talent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0" y="3840480"/>
            <a:ext cx="2194560" cy="36576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Complete Project 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Version 1.0 |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A9A2"/>
                </a:solidFill>
              </a:rPr>
              <a:t>Designed by Pranta Biswas | biswaspranta@hotmail.com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630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Product Vision &amp; Overview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116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Authentication &amp; Profiles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603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AI-Powered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08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Technical Architecture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57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2062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7548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4754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API Reference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53035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53035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" y="5303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Map &amp; Location System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9144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Merchant &amp; Institution System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14630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14630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Learning Management System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0116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20116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Packages &amp; Monetization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5603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25603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5780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VIP Employer Packages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10896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3108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5780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Premium Content Creators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36576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3657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5780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Escrow Payment System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42062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42062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57800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Security &amp; Compliance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47548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47548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57800" y="4754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Deployment &amp; Scaling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53035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53035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257800" y="5303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Implementation Timeline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Platform Overview &amp; Core Vision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What is TELND?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200" dirty="0">
                <a:solidFill>
                  <a:srgbClr val="1F2937"/>
                </a:solidFill>
              </a:rPr>
              <a:t>TELND is a comprehensive career and talent ecosystem focused on Bangladesh. It helps people prepare for careers, discover opportunities, prove their skills, get hired, and continue growing professionally.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03454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0A9A2"/>
                </a:solidFill>
              </a:rPr>
              <a:t>THE CORE JOURNEY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Practice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62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906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050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338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Offer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482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626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Target Users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Job Seekers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3063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Find jobs, build CVs, prepare for interviews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Students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Access courses, find tutors, build skills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519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251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Employers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Post jobs, search candidates, manage hiring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0632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Tutors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3063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Offer classes, manage bookings, earn income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6576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Freelancers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Find projects, manage contracts, get paid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42519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00600" y="4251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Merchants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2648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Manage institutions, students, courses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9A2"/>
                </a:solidFill>
              </a:rPr>
              <a:t>Bangladesh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Target Market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5740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05740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9A2"/>
                </a:solidFill>
              </a:rPr>
              <a:t>EN + BN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05740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Languages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4904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74904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9A2"/>
                </a:solidFill>
              </a:rPr>
              <a:t>6+ Powered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74904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AI Features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4068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44068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9A2"/>
                </a:solidFill>
              </a:rPr>
              <a:t>77 Total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4068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DB Models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3232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13232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9A2"/>
                </a:solidFill>
              </a:rPr>
              <a:t>102+ RESTful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13232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API Endpoints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Product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058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Jo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Jobs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Job opportunities marketplace with AI matching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68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Hi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Hire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Employer recruitment and hiring 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93192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Assess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Company assessments and evaluations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0058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Mock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Interview and test preparation platform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468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Learn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2880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Courses, tutorials, and learning content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7947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3192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Wo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Workforce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343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Recruitment and outsourcing services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Authentication &amp;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Multi-Method Login &amp; Comprehensive Profiles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Authentication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TELND supports multiple authentication methods for user convenience and security. Users can register and login using their preferred method.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9047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90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4173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Email + Password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Traditional email registration with strong password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9933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1920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Phone + OTP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9202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SMS-based one-time password verification via local carriers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4963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24231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Google OAuth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42316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Single sign-on using Google accounts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99923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2926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Facebook OAuth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92608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Single sign-on using Facebook accounts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50215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02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3429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LinkedIn OAuth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42900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Professional identity verification via LinkedIn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Candidate Profile Sections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complete profile helps AI matching accuracy. Candidates fill in structured sections, verified and scored by the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08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Personal Info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Name, photo, contact details, age, location, preferred language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432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43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Education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Degrees, institutions, graduation years, GPA, certifications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9776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Skills &amp; Experience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Technical skills, soft skills, work history, achievements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5087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30A9A2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508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Career Preferences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Target roles, preferred locations, salary range, job type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651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7432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34548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743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Portfolio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Projects, publications, code samples, creative works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886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9776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E793F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Career Score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AI-computed score based on profile completeness and activity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Security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4183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41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8686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Password Hashing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8686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bcrypt with 12+ salt rounds for secure password storage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44475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1371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JWT Tokens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3716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15-minute access tokens, 7-day refresh tokens with rotation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194767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18745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MFA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18745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SMS and authenticator app based multi-factor authentication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4505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450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23774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Session Management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23774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Track active sessions, revoke on logout, device fingerprinting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803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29535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953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28803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Rate Limiting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28803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Redis-based rate limiting to prevent brute force attacks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3832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45643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Input Validation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33832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Zod schema validation on all API endpoints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8862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395935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959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" y="3886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SQL Injection Prevention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160" y="38862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Prisma ORM parameterized queries, no raw SQL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446227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462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0120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Data Encryption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566160" y="43891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AES-256 encryption for sensitive data at rest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8920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49651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4965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" y="48920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HTTPS/TLS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66160" y="48920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TLS 1.3 enforced for all API communication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53949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02920" y="54681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5468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0120" y="53949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CORS Policy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66160" y="53949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Strict origin validation for cross-origin requests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AI-Powered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Smart Matching, CV Builder, Mock Interviews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Career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The AI Career Assistant is a natural-language interface that helps users navigate the platform and make career decisions.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4447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44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Natural Language Job Search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755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Users describe what they want in plain language and get matched results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084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e.g. "I want a junior React developer role in Dhaka paying 30k+"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77063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770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CV Improvement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 analyzes uploaded CV and suggests improvements for specific roles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4107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Reorders skills, suggests keywords, improves bullet points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409651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4096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Interview Preparation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4407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 generates practice questions based on target role and resume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736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Provides scoring and feedback on answers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14447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1444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Skill Gap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3168" y="1755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Compare current skills against target role requirements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2084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Recommends specific courses and learning paths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6974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277063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770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Salary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3168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Market-rate estimates based on role, location, experience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34107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Bangladesh-specific salary data with trend analysis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409651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4096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Job Alerts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3168" y="4407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AI-powered job recommendations based on profile and behavior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73168" y="4736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Daily digest with explainability scores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Smart Job Matching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The matching engine uses multiple signals to rank candidates and jobs. Scores are explainable so users understand why they match.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3560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356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Skills 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371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Technical and soft skills alignment with job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02996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299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Experience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19659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Years of relevant work experience and seniority level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62432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243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Education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560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Degree relevance, institution ranking, GPA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21868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2186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154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Geographic compatibility and commute distance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81304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813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Salary Range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749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Candidate expectations vs employer budget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440740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4074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Activity 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4343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Profile completeness, application history,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CV Builder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960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Professional Templates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Multiple ATS-friendly templates optimized for different industries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0574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AI Content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Auto-generate bullet points, summaries, and skill descriptions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Job-Specific Optimization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566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Tailor CV content to match specific job descriptions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4251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PDF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High-quality PDF output with consistent formatting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8686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960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Version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Track and manage multiple CV versions for different roles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9659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20574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ATS Score Check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Analyze how well the CV will perform with applicant tracking systems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0632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73168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Keyword Optimization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73168" y="3566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Suggest missing keywords based on job market analysis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41605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73168" y="4251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44" name="Text 42"/>
          <p:cNvSpPr/>
          <p:nvPr/>
        </p:nvSpPr>
        <p:spPr>
          <a:xfrm>
            <a:off x="4773168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5780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Multi-Language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Create CVs in both English and Bengali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Mock Interviews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Practice interviews with AI evaluation. Supports voice, video, and text modes with real-time scoring and feedback.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63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Text Interview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Type answers to AI-generated questions. Best for preparation.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Answers evaluated for content, relevance, structure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463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Voice Interview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Speak answers using microphone. AI transcribes and evaluates.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6060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Analyzes fluency, vocabulary, confidence markers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1463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4548"/>
                </a:solidFill>
              </a:rPr>
              <a:t>Video Interview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Record video responses. AI evaluates body language cues.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26060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7220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Eye contact, facial expressions, posture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Scoring Criteria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0A9A2"/>
                </a:solidFill>
              </a:rPr>
              <a:t>Content Accuracy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Correctness and relevance of answers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5740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0A9A2"/>
                </a:solidFill>
              </a:rPr>
              <a:t>Communication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Clarity, structure, and persuasiveness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4904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0A9A2"/>
                </a:solidFill>
              </a:rPr>
              <a:t>Confidence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Speech pace, filler words, decisiveness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068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0A9A2"/>
                </a:solidFill>
              </a:rPr>
              <a:t>Technical Depth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Domain-specific knowledge demonstration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3232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0A9A2"/>
                </a:solidFill>
              </a:rPr>
              <a:t>Cultural Fit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Alignment with Bangladeshi work culture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Technical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System Design &amp; Infrastructure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30A9A2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 Web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React 19 | Tailwind CSS | TypeScript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E793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Mobile 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Dart | Riverpod | Material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4548"/>
                </a:solidFill>
              </a:rPr>
              <a:t>v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2286000"/>
            <a:ext cx="6400800" cy="685800"/>
          </a:xfrm>
          <a:prstGeom prst="roundRect">
            <a:avLst>
              <a:gd name="adj" fmla="val 10667"/>
            </a:avLst>
          </a:prstGeom>
          <a:solidFill>
            <a:srgbClr val="034548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2286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Hono API Gateway (TypeScript)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Auth | Validation | Rate Limiting | CORS | Logging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4548"/>
                </a:solidFill>
              </a:rPr>
              <a:t>v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30A9A2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 + PostGIS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Primary Database</a:t>
            </a:r>
            <a:endParaRPr lang="en-US" sz="800" dirty="0"/>
          </a:p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Spatial queries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E793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Redis + BullMQ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Cache &amp; Job Queues</a:t>
            </a:r>
            <a:endParaRPr lang="en-US" sz="800" dirty="0"/>
          </a:p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Session storage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34548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Cloudflare R2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Object Storage</a:t>
            </a:r>
            <a:endParaRPr lang="en-US" sz="800" dirty="0"/>
          </a:p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File uploads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30A9A2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Maps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Geocoding</a:t>
            </a:r>
            <a:endParaRPr lang="en-US" sz="800" dirty="0"/>
          </a:p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Distance calc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WebSocket Server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Real-time messaging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0604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Background Workers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Email, SMS, notifications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SSLCommerz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Payment gateway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0372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0372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Cloudflare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CDN &amp; DDoS protection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 (Web)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0" y="86868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Next.js 15, React 19, TypeScript, Tailwind CSS, Zustand, React Query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344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 (Mobile)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123444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Flutter 3.x, Dart, Riverpod, GoRouter, Material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60020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002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Backend API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160020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Hono (TypeScript), Node.js 20+, ts-node, tsx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659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96596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PostgreSQL 15+, PostGIS 3.x for geospatial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3172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Cache &amp; Queue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60320" y="233172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Redis 7.x (Upstash), BullMQ for background jobs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69748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269748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Prisma with auto-generated migrations and type safety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632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306324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Zod schemas shared between web, mobile, and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290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 Storage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342900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Cloudflare R2 (S3-compatible, no egress fees)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79476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7947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Maps &amp; Geocoding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0" y="379476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Google Maps API, Geocoding, Directions, Places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16052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Payments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416052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SSLCommerz (cards, mobile banking), bKash, Nagad, Rocket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52628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52628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CDN &amp; Security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60320" y="452628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Cloudflare (CDN, DDoS, WAF, DNS)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8920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 Services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60320" y="489204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OpenAI API for career assistant, CV builder, matching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525780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52578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Monitoring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60320" y="525780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Sentry for errors, custom analytics dashboard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562356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56235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Email/SMS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60320" y="562356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Nodemailer, Twilio SMS for OTP and notifications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Database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77 Models | PostgreSQL + PostGIS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Database Models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34548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Total: 77 Database Models | 12 Categories | Full Audit Trail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User &amp; Auth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User, Capability, Session, Verification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Candidate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CandidateProfile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Employer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Company, Job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Job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Application, SavedJob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15087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9476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Tutor System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Profile, Booking, Class, Exam, Report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2560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375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10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79476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Merchant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Staff, Student, Course, Attendance, Fee...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3611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375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10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79476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LMS System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Course, Module, Lesson, Enrollment, Quiz...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46120" y="46634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375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79476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Packages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Package, Subscription, Coupon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15087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751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Payment System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Transaction, Refund, Wallet, Invoice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26480" y="2560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179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67512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Admin System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Role, User, Action, Flag, Maintenance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3611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179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67512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Support System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Ticket, Message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26480" y="46634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2179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A9A2"/>
                </a:solidFill>
              </a:rPr>
              <a:t>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67512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Map System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Pin, View, Bookmark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Key Database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3268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3268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86868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email, phone, name, role, status, preferences, careerScore, isVerified, createdAt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3560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3560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Job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137160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title, description, companyId, salary, location, type, status, skills, createdAt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93852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3852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Company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187452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name, description, logo, industry, size, location, website, createdAt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4414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4144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237744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jobId, candidateId, status, coverLetter, appliedAt, updatedAt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94436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94436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Package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28803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name, type, price, features, limits, isActive, createdAt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44728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44728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PaymentTransaction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338328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userId, amount, method, status, reference, createdAt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95020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95020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TutorBooking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388620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tutorId, studentId, subject, date, time, status, amount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45312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45312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LMSCourse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438912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title, description, instructorId, price, category, status, rating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49560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95604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Merchant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0" y="489204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name, type, description, location, contact, status, createdAt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" y="53949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545896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545896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SupportTicket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0" y="53949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id, userId, subject, status, priority, category, createdAt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API Reference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102+ Endpoints | RESTful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API Endpoints by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418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45920" y="941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register, login, logout, refresh-token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Jobs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5920" y="2176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list, detail, search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107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10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45920" y="3410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profile, update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6451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45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Companies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5920" y="4645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list, detail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46120" y="868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9418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26280" y="941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users, roles, analytics, flags, settings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21031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26280" y="2176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pins, search, geocode, views, bookmarks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46120" y="33375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37560" y="34107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9" name="Text 37"/>
          <p:cNvSpPr/>
          <p:nvPr/>
        </p:nvSpPr>
        <p:spPr>
          <a:xfrm>
            <a:off x="3337560" y="3410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Packages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26280" y="3410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10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37560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list, subscribe, manage, coupons, invoices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46120" y="4572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337560" y="46451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4645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Support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26280" y="4645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3756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tickets, messages, faq, feedback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26480" y="868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9418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Merchant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06640" y="941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20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staff, students, courses, attendance, fees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26480" y="21031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54" name="Text 52"/>
          <p:cNvSpPr/>
          <p:nvPr/>
        </p:nvSpPr>
        <p:spPr>
          <a:xfrm>
            <a:off x="621792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LMS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06640" y="2176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16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courses, modules, lessons, enrollments, quizzes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26480" y="33375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17920" y="34107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59" name="Text 57"/>
          <p:cNvSpPr/>
          <p:nvPr/>
        </p:nvSpPr>
        <p:spPr>
          <a:xfrm>
            <a:off x="6217920" y="3410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Analytics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06640" y="3410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6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17920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dashboard, users, jobs, revenue, reports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26480" y="4572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17920" y="46451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64" name="Text 62"/>
          <p:cNvSpPr/>
          <p:nvPr/>
        </p:nvSpPr>
        <p:spPr>
          <a:xfrm>
            <a:off x="6217920" y="4645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Tutor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06640" y="4645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793F"/>
                </a:solidFill>
              </a:rPr>
              <a:t>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21792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profile, bookings, classes, earnings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Map &amp; Location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Google Maps | PostGIS | Privacy Tiers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Location Display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TELND uses privacy-aware location display. Different user types show different levels of location detail.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6304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EXACT 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Full address + precise coordinates displayed on map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Used for: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Jobs — company office address</a:t>
            </a:r>
            <a:endParaRPr lang="en-US" sz="900" dirty="0"/>
          </a:p>
          <a:p>
            <a:pPr marL="0" indent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Companies — headquarters location</a:t>
            </a:r>
            <a:endParaRPr lang="en-US" sz="900" dirty="0"/>
          </a:p>
          <a:p>
            <a:pPr marL="0" indent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Merchants — institution address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463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APPROXIMATE LOCATION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Area name + coordinates with ±500m offset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4548"/>
                </a:solidFill>
              </a:rPr>
              <a:t>Used for: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Tutors — general area, not exact home</a:t>
            </a:r>
            <a:endParaRPr lang="en-US" sz="900" dirty="0"/>
          </a:p>
          <a:p>
            <a:pPr marL="0" indent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Freelancers — district-level location</a:t>
            </a:r>
            <a:endParaRPr lang="en-US" sz="900" dirty="0"/>
          </a:p>
          <a:p>
            <a:pPr marL="0" indent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Creators — city/area name only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Map 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Interactive map with clustered markers for performance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Filter by type: jobs, tutors, merchants, creators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Search by location name or area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Bookmark favorite locations for quick 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Auto-sync map pins with listing 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4800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Geocoding results cached in Redis (24h TTL)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5303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PostGIS spatial queries for proximity search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5303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Mobile: Map view + list view toggle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Merchant &amp; Institution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Coaching Centers | Schools | Universities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Merchant Institution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418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41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Coaching Centers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Tutoring and test prep centers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9418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3454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41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Schools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Primary and secondary schools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418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E793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941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Colleges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Higher secondary institutions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7830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Universities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Degree-granting institutions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17830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34548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Training Institutes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Vocational and skill development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7830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Language Centers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English, Arabic, and other languages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Staff Roles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33832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3832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Owner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Full control over institution, billing, and all features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3832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33832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Admin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Manage staff, students, courses, and announcements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4114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Teacher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View assigned classes, mark attendance, upload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1148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4114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Accountant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2648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Manage fees, payments, and financial reports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Core Features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576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Student Management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Course Management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Attendance Tracking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Exam &amp; Results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Fee Collection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6888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Announcements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Routine/Schedule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&gt; Reports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Learning Management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Courses | Live Classes | Assessments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LMS 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Course Management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Modules &amp; sections structure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Video, Text, Quiz lesson types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Categories and tags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Prerequisites and ordering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Draft/Published status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4203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7" name="Text 15"/>
          <p:cNvSpPr/>
          <p:nvPr/>
        </p:nvSpPr>
        <p:spPr>
          <a:xfrm>
            <a:off x="254203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Live Classes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7860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WebRTC real-time video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7860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Screen sharing capability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7860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Chat during class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860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Session recording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7860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Attendance tracking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15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Assessments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8172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Multiple choice quizzes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8172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File upload assignments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8172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Auto-grading system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8172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Peer review option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8172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Time-limited exams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7512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4827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33" name="Text 31"/>
          <p:cNvSpPr/>
          <p:nvPr/>
        </p:nvSpPr>
        <p:spPr>
          <a:xfrm>
            <a:off x="674827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Progress Tracking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8484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Lesson completion 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8484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Quiz scores and attempts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484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Certificate generation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8484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Learning analytics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8484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Instructor dashboard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LMS Monetization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Course Sales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Instructors sell courses, platform takes 20-30% commission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46888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6032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Live Class Fees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6032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Per-session or subscription-based live class access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6344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Certificates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Paid certificates for course completion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67512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76656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Subscriptions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6656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Monthly access to all courses in a category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Packages &amp; Monetization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User | Employer | Merchant Tiers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Subscription Packages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Packages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Free: Basic job search, limited CV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Pro: AI matching, unlimited CV, priority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Premium: All features, mock interviews, career coaching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A9A2"/>
                </a:solidFill>
              </a:rPr>
              <a:t>0-500 BDT/mo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Employer Packages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Per Job: Pay per listing, basic features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5848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Monthly: Bulk listings, candidate search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55848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Yearly: Discount + analytics + priority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5848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Enterprise: Custom solutions, API, SLA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756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793F"/>
                </a:solidFill>
              </a:rPr>
              <a:t>0-40K BDT/mo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8686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Merchant Packages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Starter: 50 students, basic features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36208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Growth: 200 students, advanced tools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36208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Scale: 1000 students, full suite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6208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Enterprise: Unlimited, custom branding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0-20K BDT/mo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Revenue Streams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Subscriptions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Monthly/annual fees for premium features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46120" y="46634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3756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Transaction Fees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1772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3-5% on escrow payments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46634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1792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Course Commissions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20-30% on course sales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53035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5303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Featured Listings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37360" y="5303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Promoted jobs and profiles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46120" y="53035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337560" y="5303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API Access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17720" y="5303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Paid API access for enterprises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VIP Employer Packages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Silver | Gold | Platinum | Enterprise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VIP Employer Packages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Escrow Payment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Secure Fund Holding | Milestone Releases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Escrow Payment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62422" y="96012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107442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A9A2"/>
                </a:solidFill>
              </a:rPr>
              <a:t>Deposit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3260" y="960120"/>
            <a:ext cx="548640" cy="54864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322326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793F"/>
                </a:solidFill>
              </a:rPr>
              <a:t>Work Phase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84098" y="960120"/>
            <a:ext cx="548640" cy="54864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19" name="Text 17"/>
          <p:cNvSpPr/>
          <p:nvPr/>
        </p:nvSpPr>
        <p:spPr>
          <a:xfrm>
            <a:off x="537210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4548"/>
                </a:solidFill>
              </a:rPr>
              <a:t>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20940" y="96012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75209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A9A2"/>
                </a:solidFill>
              </a:rPr>
              <a:t>Release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4996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Escrow Features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28455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39" y="27343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4548"/>
                </a:solidFill>
              </a:rPr>
              <a:t>Milestone Payments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7714" y="3177412"/>
            <a:ext cx="2968011" cy="28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Break projects into milestones with separate escrow for each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8455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97880" y="27343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4548"/>
                </a:solidFill>
              </a:rPr>
              <a:t>Dispute Resolution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17441" y="3180885"/>
            <a:ext cx="2972558" cy="265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Mediation process if client and creator disagree on deliverables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5313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463039" y="34201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4548"/>
                </a:solidFill>
              </a:rPr>
              <a:t>Auto-Release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8084" y="3833532"/>
            <a:ext cx="2938710" cy="28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Funds auto-released after review period if no dispute raised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35313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34201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4548"/>
                </a:solidFill>
              </a:rPr>
              <a:t>Partial Release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6385" y="3823427"/>
            <a:ext cx="3114669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Release payment for approved milestones while others are disputed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2171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39" y="41059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4548"/>
                </a:solidFill>
              </a:rPr>
              <a:t>Refund Protection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18217" y="4567195"/>
            <a:ext cx="2627006" cy="2585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Full refund to client if work is not delivered as specified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42171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97880" y="41059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4548"/>
                </a:solidFill>
              </a:rPr>
              <a:t>Fee Structure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6385" y="4515920"/>
            <a:ext cx="3102494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3-5% platform fee deducted on release, transparent to both parties</a:t>
            </a:r>
            <a:endParaRPr lang="en-US" sz="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92E075-FCD5-3C46-8ABE-48F95479B0DF}"/>
              </a:ext>
            </a:extLst>
          </p:cNvPr>
          <p:cNvSpPr txBox="1"/>
          <p:nvPr/>
        </p:nvSpPr>
        <p:spPr>
          <a:xfrm>
            <a:off x="491932" y="1874520"/>
            <a:ext cx="173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</a:rPr>
              <a:t>Client deposits funds into TELND escrow account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BD900-D66C-5EDC-B8C4-36D1D3D73ED2}"/>
              </a:ext>
            </a:extLst>
          </p:cNvPr>
          <p:cNvSpPr txBox="1"/>
          <p:nvPr/>
        </p:nvSpPr>
        <p:spPr>
          <a:xfrm>
            <a:off x="2630542" y="1874520"/>
            <a:ext cx="173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</a:rPr>
              <a:t>Creator/Freelancer completes the work or milestone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9568C49-A012-0CFB-94F4-50A59CC659BF}"/>
              </a:ext>
            </a:extLst>
          </p:cNvPr>
          <p:cNvSpPr txBox="1"/>
          <p:nvPr/>
        </p:nvSpPr>
        <p:spPr>
          <a:xfrm>
            <a:off x="4779382" y="1874520"/>
            <a:ext cx="173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</a:rPr>
              <a:t>Client reviews deliverables and approves/rejects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C33B80-D517-6233-474B-AAC9AC5947B2}"/>
              </a:ext>
            </a:extLst>
          </p:cNvPr>
          <p:cNvSpPr txBox="1"/>
          <p:nvPr/>
        </p:nvSpPr>
        <p:spPr>
          <a:xfrm>
            <a:off x="6929232" y="1874520"/>
            <a:ext cx="173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</a:rPr>
              <a:t>Client deposits funds into TELND escrow account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Security &amp; Compliance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Multi-Layer Protection | Data Privacy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Security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654456"/>
            <a:ext cx="4021662" cy="201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74353" y="5654456"/>
            <a:ext cx="2252131" cy="201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B013EA65-5BDF-F1E5-35D7-67C9589F3425}"/>
              </a:ext>
            </a:extLst>
          </p:cNvPr>
          <p:cNvSpPr/>
          <p:nvPr/>
        </p:nvSpPr>
        <p:spPr>
          <a:xfrm>
            <a:off x="457200" y="9344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0FA75AE1-6702-22B8-B09E-4BD8E1A3BCE8}"/>
              </a:ext>
            </a:extLst>
          </p:cNvPr>
          <p:cNvSpPr/>
          <p:nvPr/>
        </p:nvSpPr>
        <p:spPr>
          <a:xfrm>
            <a:off x="548640" y="11173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66986FB2-A770-287F-86B9-C76F9F41D0CE}"/>
              </a:ext>
            </a:extLst>
          </p:cNvPr>
          <p:cNvSpPr/>
          <p:nvPr/>
        </p:nvSpPr>
        <p:spPr>
          <a:xfrm>
            <a:off x="548640" y="1117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BB9AE051-E175-417C-C86A-015CA08029F1}"/>
              </a:ext>
            </a:extLst>
          </p:cNvPr>
          <p:cNvSpPr/>
          <p:nvPr/>
        </p:nvSpPr>
        <p:spPr>
          <a:xfrm>
            <a:off x="1143000" y="10258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Input Validation</a:t>
            </a:r>
            <a:endParaRPr lang="en-US" sz="130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B7790A21-BF96-F066-AB5D-223F879B0D18}"/>
              </a:ext>
            </a:extLst>
          </p:cNvPr>
          <p:cNvSpPr/>
          <p:nvPr/>
        </p:nvSpPr>
        <p:spPr>
          <a:xfrm>
            <a:off x="1143000" y="13459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Zod Schemas</a:t>
            </a:r>
            <a:endParaRPr lang="en-US" sz="11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4E106221-9413-B4C1-F6E7-1E63E0CC9A5F}"/>
              </a:ext>
            </a:extLst>
          </p:cNvPr>
          <p:cNvSpPr/>
          <p:nvPr/>
        </p:nvSpPr>
        <p:spPr>
          <a:xfrm>
            <a:off x="4754880" y="9344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8835FE69-10D3-A7E4-D88F-5C5848394398}"/>
              </a:ext>
            </a:extLst>
          </p:cNvPr>
          <p:cNvSpPr/>
          <p:nvPr/>
        </p:nvSpPr>
        <p:spPr>
          <a:xfrm>
            <a:off x="4846320" y="11173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FB17945B-95B3-925A-8DC7-F60CD811CE1C}"/>
              </a:ext>
            </a:extLst>
          </p:cNvPr>
          <p:cNvSpPr/>
          <p:nvPr/>
        </p:nvSpPr>
        <p:spPr>
          <a:xfrm>
            <a:off x="4846320" y="1117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185BEA12-0098-F1C1-A353-C6398B7B28AB}"/>
              </a:ext>
            </a:extLst>
          </p:cNvPr>
          <p:cNvSpPr/>
          <p:nvPr/>
        </p:nvSpPr>
        <p:spPr>
          <a:xfrm>
            <a:off x="5440680" y="10258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4C27C9EE-906C-D1AC-72C6-481858202C74}"/>
              </a:ext>
            </a:extLst>
          </p:cNvPr>
          <p:cNvSpPr/>
          <p:nvPr/>
        </p:nvSpPr>
        <p:spPr>
          <a:xfrm>
            <a:off x="5440680" y="13459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JWT + Sessions + Audit Logging</a:t>
            </a:r>
            <a:endParaRPr lang="en-US" sz="110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4D3559E0-2396-9BE3-0746-43BCAAE8A544}"/>
              </a:ext>
            </a:extLst>
          </p:cNvPr>
          <p:cNvSpPr/>
          <p:nvPr/>
        </p:nvSpPr>
        <p:spPr>
          <a:xfrm>
            <a:off x="457200" y="19402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9" name="Shape 16">
            <a:extLst>
              <a:ext uri="{FF2B5EF4-FFF2-40B4-BE49-F238E27FC236}">
                <a16:creationId xmlns:a16="http://schemas.microsoft.com/office/drawing/2014/main" id="{9F554882-89B6-F055-D13D-C952C5F4F529}"/>
              </a:ext>
            </a:extLst>
          </p:cNvPr>
          <p:cNvSpPr/>
          <p:nvPr/>
        </p:nvSpPr>
        <p:spPr>
          <a:xfrm>
            <a:off x="548640" y="21231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773A21A5-7A38-0F24-7DE1-ABE5A99B23FC}"/>
              </a:ext>
            </a:extLst>
          </p:cNvPr>
          <p:cNvSpPr/>
          <p:nvPr/>
        </p:nvSpPr>
        <p:spPr>
          <a:xfrm>
            <a:off x="548640" y="212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8423F7BC-7729-71FD-C6F5-FCD3F7B34857}"/>
              </a:ext>
            </a:extLst>
          </p:cNvPr>
          <p:cNvSpPr/>
          <p:nvPr/>
        </p:nvSpPr>
        <p:spPr>
          <a:xfrm>
            <a:off x="1143000" y="20317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Authorization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A0C0E1F9-73AC-D1AD-1E70-8EFDD0B8EBE9}"/>
              </a:ext>
            </a:extLst>
          </p:cNvPr>
          <p:cNvSpPr/>
          <p:nvPr/>
        </p:nvSpPr>
        <p:spPr>
          <a:xfrm>
            <a:off x="1143000" y="23517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Role-Based (RBAC)</a:t>
            </a:r>
            <a:endParaRPr lang="en-US" sz="1100" dirty="0"/>
          </a:p>
        </p:txBody>
      </p:sp>
      <p:sp>
        <p:nvSpPr>
          <p:cNvPr id="73" name="Shape 20">
            <a:extLst>
              <a:ext uri="{FF2B5EF4-FFF2-40B4-BE49-F238E27FC236}">
                <a16:creationId xmlns:a16="http://schemas.microsoft.com/office/drawing/2014/main" id="{29A8EDC8-45A2-ECF9-2EEF-F838DD52A175}"/>
              </a:ext>
            </a:extLst>
          </p:cNvPr>
          <p:cNvSpPr/>
          <p:nvPr/>
        </p:nvSpPr>
        <p:spPr>
          <a:xfrm>
            <a:off x="4754880" y="19402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C6D790EF-0B5E-7C73-BF4A-FEE24B1ED550}"/>
              </a:ext>
            </a:extLst>
          </p:cNvPr>
          <p:cNvSpPr/>
          <p:nvPr/>
        </p:nvSpPr>
        <p:spPr>
          <a:xfrm>
            <a:off x="4846320" y="21231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E553E20E-BFD5-110E-8F4E-DC98AA32F16B}"/>
              </a:ext>
            </a:extLst>
          </p:cNvPr>
          <p:cNvSpPr/>
          <p:nvPr/>
        </p:nvSpPr>
        <p:spPr>
          <a:xfrm>
            <a:off x="4846320" y="212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3EC068F7-157B-011C-1E4F-D71AA773E4B2}"/>
              </a:ext>
            </a:extLst>
          </p:cNvPr>
          <p:cNvSpPr/>
          <p:nvPr/>
        </p:nvSpPr>
        <p:spPr>
          <a:xfrm>
            <a:off x="5440680" y="20317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Rate Limiting</a:t>
            </a:r>
            <a:endParaRPr lang="en-US" sz="13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09D71B0F-50C1-28C9-E043-111291361F94}"/>
              </a:ext>
            </a:extLst>
          </p:cNvPr>
          <p:cNvSpPr/>
          <p:nvPr/>
        </p:nvSpPr>
        <p:spPr>
          <a:xfrm>
            <a:off x="5440680" y="23517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Redis</a:t>
            </a:r>
            <a:endParaRPr lang="en-US" sz="1100" dirty="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B072B5DB-2BDA-A4AC-B2C3-92643460914D}"/>
              </a:ext>
            </a:extLst>
          </p:cNvPr>
          <p:cNvSpPr/>
          <p:nvPr/>
        </p:nvSpPr>
        <p:spPr>
          <a:xfrm>
            <a:off x="457200" y="29461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79" name="Shape 26">
            <a:extLst>
              <a:ext uri="{FF2B5EF4-FFF2-40B4-BE49-F238E27FC236}">
                <a16:creationId xmlns:a16="http://schemas.microsoft.com/office/drawing/2014/main" id="{17945E7C-2B52-1EC0-F7AF-B750D098B9BD}"/>
              </a:ext>
            </a:extLst>
          </p:cNvPr>
          <p:cNvSpPr/>
          <p:nvPr/>
        </p:nvSpPr>
        <p:spPr>
          <a:xfrm>
            <a:off x="548640" y="31289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9DDFA230-278C-73C5-E8DB-5E19E1757A36}"/>
              </a:ext>
            </a:extLst>
          </p:cNvPr>
          <p:cNvSpPr/>
          <p:nvPr/>
        </p:nvSpPr>
        <p:spPr>
          <a:xfrm>
            <a:off x="548640" y="31289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E765182F-6071-706F-3C4C-AC02CC902995}"/>
              </a:ext>
            </a:extLst>
          </p:cNvPr>
          <p:cNvSpPr/>
          <p:nvPr/>
        </p:nvSpPr>
        <p:spPr>
          <a:xfrm>
            <a:off x="1143000" y="30375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SQL Injection</a:t>
            </a:r>
            <a:endParaRPr lang="en-US" sz="1300" dirty="0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F2280897-8C7D-8D51-AD0E-D3FA7A82A9FF}"/>
              </a:ext>
            </a:extLst>
          </p:cNvPr>
          <p:cNvSpPr/>
          <p:nvPr/>
        </p:nvSpPr>
        <p:spPr>
          <a:xfrm>
            <a:off x="1143000" y="33575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Prisma ORM</a:t>
            </a:r>
            <a:endParaRPr lang="en-US" sz="1100" dirty="0"/>
          </a:p>
        </p:txBody>
      </p:sp>
      <p:sp>
        <p:nvSpPr>
          <p:cNvPr id="83" name="Shape 30">
            <a:extLst>
              <a:ext uri="{FF2B5EF4-FFF2-40B4-BE49-F238E27FC236}">
                <a16:creationId xmlns:a16="http://schemas.microsoft.com/office/drawing/2014/main" id="{5AF5F07E-A323-8851-FDAB-94752C345338}"/>
              </a:ext>
            </a:extLst>
          </p:cNvPr>
          <p:cNvSpPr/>
          <p:nvPr/>
        </p:nvSpPr>
        <p:spPr>
          <a:xfrm>
            <a:off x="4754880" y="29461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83271462-2CEE-4B56-CFB6-63C70A2D89E6}"/>
              </a:ext>
            </a:extLst>
          </p:cNvPr>
          <p:cNvSpPr/>
          <p:nvPr/>
        </p:nvSpPr>
        <p:spPr>
          <a:xfrm>
            <a:off x="4846320" y="31289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61AEBF2D-25C9-94B3-25CD-8D5433358BC8}"/>
              </a:ext>
            </a:extLst>
          </p:cNvPr>
          <p:cNvSpPr/>
          <p:nvPr/>
        </p:nvSpPr>
        <p:spPr>
          <a:xfrm>
            <a:off x="4846320" y="31289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86" name="Text 33">
            <a:extLst>
              <a:ext uri="{FF2B5EF4-FFF2-40B4-BE49-F238E27FC236}">
                <a16:creationId xmlns:a16="http://schemas.microsoft.com/office/drawing/2014/main" id="{C3FA47E7-CE51-1189-3E0B-0C00200D64AE}"/>
              </a:ext>
            </a:extLst>
          </p:cNvPr>
          <p:cNvSpPr/>
          <p:nvPr/>
        </p:nvSpPr>
        <p:spPr>
          <a:xfrm>
            <a:off x="5440680" y="30375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Encryption</a:t>
            </a:r>
            <a:endParaRPr lang="en-US" sz="1300" dirty="0"/>
          </a:p>
        </p:txBody>
      </p:sp>
      <p:sp>
        <p:nvSpPr>
          <p:cNvPr id="87" name="Text 34">
            <a:extLst>
              <a:ext uri="{FF2B5EF4-FFF2-40B4-BE49-F238E27FC236}">
                <a16:creationId xmlns:a16="http://schemas.microsoft.com/office/drawing/2014/main" id="{65FB4020-5D87-B0EA-406D-1FDD541681BE}"/>
              </a:ext>
            </a:extLst>
          </p:cNvPr>
          <p:cNvSpPr/>
          <p:nvPr/>
        </p:nvSpPr>
        <p:spPr>
          <a:xfrm>
            <a:off x="5440680" y="33575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AES-256 / TLS 1.3</a:t>
            </a:r>
            <a:endParaRPr lang="en-US" sz="1100" dirty="0"/>
          </a:p>
        </p:txBody>
      </p:sp>
      <p:sp>
        <p:nvSpPr>
          <p:cNvPr id="88" name="Shape 35">
            <a:extLst>
              <a:ext uri="{FF2B5EF4-FFF2-40B4-BE49-F238E27FC236}">
                <a16:creationId xmlns:a16="http://schemas.microsoft.com/office/drawing/2014/main" id="{A9D13961-7310-3FE1-5551-38B6375AEFB6}"/>
              </a:ext>
            </a:extLst>
          </p:cNvPr>
          <p:cNvSpPr/>
          <p:nvPr/>
        </p:nvSpPr>
        <p:spPr>
          <a:xfrm>
            <a:off x="457200" y="39519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9" name="Shape 36">
            <a:extLst>
              <a:ext uri="{FF2B5EF4-FFF2-40B4-BE49-F238E27FC236}">
                <a16:creationId xmlns:a16="http://schemas.microsoft.com/office/drawing/2014/main" id="{1D894F44-C791-466C-F662-E3407C5C3A62}"/>
              </a:ext>
            </a:extLst>
          </p:cNvPr>
          <p:cNvSpPr/>
          <p:nvPr/>
        </p:nvSpPr>
        <p:spPr>
          <a:xfrm>
            <a:off x="548640" y="41348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90" name="Text 37">
            <a:extLst>
              <a:ext uri="{FF2B5EF4-FFF2-40B4-BE49-F238E27FC236}">
                <a16:creationId xmlns:a16="http://schemas.microsoft.com/office/drawing/2014/main" id="{71BFA6F1-C5CC-300F-D782-C3790A21C7BA}"/>
              </a:ext>
            </a:extLst>
          </p:cNvPr>
          <p:cNvSpPr/>
          <p:nvPr/>
        </p:nvSpPr>
        <p:spPr>
          <a:xfrm>
            <a:off x="548640" y="4134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91" name="Text 38">
            <a:extLst>
              <a:ext uri="{FF2B5EF4-FFF2-40B4-BE49-F238E27FC236}">
                <a16:creationId xmlns:a16="http://schemas.microsoft.com/office/drawing/2014/main" id="{0CF15DB1-4445-52DC-F77A-870BADA2C549}"/>
              </a:ext>
            </a:extLst>
          </p:cNvPr>
          <p:cNvSpPr/>
          <p:nvPr/>
        </p:nvSpPr>
        <p:spPr>
          <a:xfrm>
            <a:off x="1143000" y="40433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DDoS Protection</a:t>
            </a:r>
            <a:endParaRPr lang="en-US" sz="1300" dirty="0"/>
          </a:p>
        </p:txBody>
      </p:sp>
      <p:sp>
        <p:nvSpPr>
          <p:cNvPr id="92" name="Text 39">
            <a:extLst>
              <a:ext uri="{FF2B5EF4-FFF2-40B4-BE49-F238E27FC236}">
                <a16:creationId xmlns:a16="http://schemas.microsoft.com/office/drawing/2014/main" id="{AEC24992-577B-39A0-52F9-4F1FEB643DD7}"/>
              </a:ext>
            </a:extLst>
          </p:cNvPr>
          <p:cNvSpPr/>
          <p:nvPr/>
        </p:nvSpPr>
        <p:spPr>
          <a:xfrm>
            <a:off x="1143000" y="43634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Cloudflare</a:t>
            </a:r>
            <a:endParaRPr lang="en-US" sz="1100" dirty="0"/>
          </a:p>
        </p:txBody>
      </p:sp>
      <p:sp>
        <p:nvSpPr>
          <p:cNvPr id="93" name="Shape 40">
            <a:extLst>
              <a:ext uri="{FF2B5EF4-FFF2-40B4-BE49-F238E27FC236}">
                <a16:creationId xmlns:a16="http://schemas.microsoft.com/office/drawing/2014/main" id="{61433BF1-AD4C-306B-BCE4-EC2402DF4B77}"/>
              </a:ext>
            </a:extLst>
          </p:cNvPr>
          <p:cNvSpPr/>
          <p:nvPr/>
        </p:nvSpPr>
        <p:spPr>
          <a:xfrm>
            <a:off x="4754880" y="39519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4" name="Shape 41">
            <a:extLst>
              <a:ext uri="{FF2B5EF4-FFF2-40B4-BE49-F238E27FC236}">
                <a16:creationId xmlns:a16="http://schemas.microsoft.com/office/drawing/2014/main" id="{6A1961F6-A63F-0B4D-1939-05E4084708E3}"/>
              </a:ext>
            </a:extLst>
          </p:cNvPr>
          <p:cNvSpPr/>
          <p:nvPr/>
        </p:nvSpPr>
        <p:spPr>
          <a:xfrm>
            <a:off x="4846320" y="41348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95" name="Text 42">
            <a:extLst>
              <a:ext uri="{FF2B5EF4-FFF2-40B4-BE49-F238E27FC236}">
                <a16:creationId xmlns:a16="http://schemas.microsoft.com/office/drawing/2014/main" id="{45CC8B4F-A2C8-6126-CCCB-3BA613A503C3}"/>
              </a:ext>
            </a:extLst>
          </p:cNvPr>
          <p:cNvSpPr/>
          <p:nvPr/>
        </p:nvSpPr>
        <p:spPr>
          <a:xfrm>
            <a:off x="4846320" y="4134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96" name="Text 43">
            <a:extLst>
              <a:ext uri="{FF2B5EF4-FFF2-40B4-BE49-F238E27FC236}">
                <a16:creationId xmlns:a16="http://schemas.microsoft.com/office/drawing/2014/main" id="{C07493DE-B164-677C-72DF-465488921D4E}"/>
              </a:ext>
            </a:extLst>
          </p:cNvPr>
          <p:cNvSpPr/>
          <p:nvPr/>
        </p:nvSpPr>
        <p:spPr>
          <a:xfrm>
            <a:off x="5440680" y="40433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Document Security</a:t>
            </a:r>
            <a:endParaRPr lang="en-US" sz="1300" dirty="0"/>
          </a:p>
        </p:txBody>
      </p:sp>
      <p:sp>
        <p:nvSpPr>
          <p:cNvPr id="97" name="Text 44">
            <a:extLst>
              <a:ext uri="{FF2B5EF4-FFF2-40B4-BE49-F238E27FC236}">
                <a16:creationId xmlns:a16="http://schemas.microsoft.com/office/drawing/2014/main" id="{31C55815-4CDE-E92C-A6A0-4CB0CAC0352F}"/>
              </a:ext>
            </a:extLst>
          </p:cNvPr>
          <p:cNvSpPr/>
          <p:nvPr/>
        </p:nvSpPr>
        <p:spPr>
          <a:xfrm>
            <a:off x="5440680" y="43634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Encrypted Storage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Deployment &amp; Scaling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Cloud Infrastructure | Auto-Scaling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Deployment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C7368CF-BADA-A587-6357-4901FFCF131F}"/>
              </a:ext>
            </a:extLst>
          </p:cNvPr>
          <p:cNvGrpSpPr/>
          <p:nvPr/>
        </p:nvGrpSpPr>
        <p:grpSpPr>
          <a:xfrm>
            <a:off x="365760" y="868680"/>
            <a:ext cx="7515309" cy="2814180"/>
            <a:chOff x="365760" y="868680"/>
            <a:chExt cx="8321040" cy="3520440"/>
          </a:xfrm>
        </p:grpSpPr>
        <p:sp>
          <p:nvSpPr>
            <p:cNvPr id="7" name="Shape 5"/>
            <p:cNvSpPr/>
            <p:nvPr/>
          </p:nvSpPr>
          <p:spPr>
            <a:xfrm>
              <a:off x="365760" y="868680"/>
              <a:ext cx="402336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475488" y="960120"/>
              <a:ext cx="1463040" cy="274320"/>
            </a:xfrm>
            <a:prstGeom prst="roundRect">
              <a:avLst>
                <a:gd name="adj" fmla="val 20000"/>
              </a:avLst>
            </a:prstGeom>
            <a:solidFill>
              <a:srgbClr val="30A9A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75488" y="96012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PostgreSQL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011680" y="96012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AWS RDS / Supabase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5488" y="132588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"/>
                </a:lnSpc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Primary database with PostGIS extension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65760" y="2103120"/>
              <a:ext cx="402336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75488" y="2194560"/>
              <a:ext cx="1463040" cy="274320"/>
            </a:xfrm>
            <a:prstGeom prst="roundRect">
              <a:avLst>
                <a:gd name="adj" fmla="val 20000"/>
              </a:avLst>
            </a:prstGeom>
            <a:solidFill>
              <a:srgbClr val="FE793F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75488" y="219456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Redis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011680" y="219456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Upstash / Redis Cloud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75488" y="256032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"/>
                </a:lnSpc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Serverless Redis for cache and queues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65760" y="3337560"/>
              <a:ext cx="402336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475488" y="3429000"/>
              <a:ext cx="1463040" cy="274320"/>
            </a:xfrm>
            <a:prstGeom prst="roundRect">
              <a:avLst>
                <a:gd name="adj" fmla="val 20000"/>
              </a:avLst>
            </a:prstGeom>
            <a:solidFill>
              <a:srgbClr val="034548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75488" y="342900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Object Storage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011680" y="342900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Cloudflare R2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75488" y="379476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"/>
                </a:lnSpc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S3-compatible, zero egress fees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663440" y="868680"/>
              <a:ext cx="402336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4773168" y="960120"/>
              <a:ext cx="1463040" cy="274320"/>
            </a:xfrm>
            <a:prstGeom prst="roundRect">
              <a:avLst>
                <a:gd name="adj" fmla="val 20000"/>
              </a:avLst>
            </a:prstGeom>
            <a:solidFill>
              <a:srgbClr val="30A9A2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773168" y="96012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CDN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309360" y="96012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Cloudflare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773168" y="132588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"/>
                </a:lnSpc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Global CDN with DDoS protection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663440" y="2103120"/>
              <a:ext cx="402336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28" name="Shape 26"/>
            <p:cNvSpPr/>
            <p:nvPr/>
          </p:nvSpPr>
          <p:spPr>
            <a:xfrm>
              <a:off x="4773168" y="2194560"/>
              <a:ext cx="1463040" cy="274320"/>
            </a:xfrm>
            <a:prstGeom prst="roundRect">
              <a:avLst>
                <a:gd name="adj" fmla="val 20000"/>
              </a:avLst>
            </a:prstGeom>
            <a:solidFill>
              <a:srgbClr val="FE793F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773168" y="219456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Web Hosting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309360" y="219456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Vercel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773168" y="256032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"/>
                </a:lnSpc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Next.js optimized, edge functions</a:t>
              </a:r>
              <a:endParaRPr lang="en-US" sz="1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663440" y="3337560"/>
              <a:ext cx="402336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33" name="Shape 31"/>
            <p:cNvSpPr/>
            <p:nvPr/>
          </p:nvSpPr>
          <p:spPr>
            <a:xfrm>
              <a:off x="4773168" y="3429000"/>
              <a:ext cx="1463040" cy="274320"/>
            </a:xfrm>
            <a:prstGeom prst="roundRect">
              <a:avLst>
                <a:gd name="adj" fmla="val 20000"/>
              </a:avLst>
            </a:prstGeom>
            <a:solidFill>
              <a:srgbClr val="034548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4773168" y="342900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API Hosting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309360" y="342900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Railway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773168" y="379476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"/>
                </a:lnSpc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Auto-scaling Hono API containers</a:t>
              </a:r>
              <a:endParaRPr lang="en-US" sz="140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365760" y="374610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Scaling Strategy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157582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420330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Horizontal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14600" y="4157582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606040" y="420330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Vertical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4157582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420330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Database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12280" y="4157582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03720" y="420330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Caching</a:t>
            </a:r>
            <a:endParaRPr 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F1C227-3860-C4F7-BFB6-9299D5B295F5}"/>
              </a:ext>
            </a:extLst>
          </p:cNvPr>
          <p:cNvSpPr txBox="1"/>
          <p:nvPr/>
        </p:nvSpPr>
        <p:spPr>
          <a:xfrm>
            <a:off x="4757405" y="4456417"/>
            <a:ext cx="1734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64748B"/>
                </a:solidFill>
              </a:rPr>
              <a:t>Read replicas for queries, connection pooling, query optimization</a:t>
            </a:r>
            <a:endParaRPr lang="en-US" sz="800" dirty="0"/>
          </a:p>
          <a:p>
            <a:endParaRPr lang="en-US" sz="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1CBDB3-ACD6-2E9C-AA15-5E2A3B9C1E17}"/>
              </a:ext>
            </a:extLst>
          </p:cNvPr>
          <p:cNvSpPr txBox="1"/>
          <p:nvPr/>
        </p:nvSpPr>
        <p:spPr>
          <a:xfrm>
            <a:off x="6928222" y="4456417"/>
            <a:ext cx="173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64748B"/>
                </a:solidFill>
              </a:rPr>
              <a:t>Redis for sessions, API responses, geocoding, frequently accessed data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16A162-791A-D339-D272-9FC282DB1CA8}"/>
              </a:ext>
            </a:extLst>
          </p:cNvPr>
          <p:cNvSpPr txBox="1"/>
          <p:nvPr/>
        </p:nvSpPr>
        <p:spPr>
          <a:xfrm>
            <a:off x="2630542" y="4456417"/>
            <a:ext cx="1734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64748B"/>
                </a:solidFill>
              </a:rPr>
              <a:t>Database upgrade paths, Redis memory scaling, API resource increase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4C03D1-3B30-FDE9-9056-C96962605FA9}"/>
              </a:ext>
            </a:extLst>
          </p:cNvPr>
          <p:cNvSpPr txBox="1"/>
          <p:nvPr/>
        </p:nvSpPr>
        <p:spPr>
          <a:xfrm>
            <a:off x="418554" y="4456417"/>
            <a:ext cx="173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64748B"/>
                </a:solidFill>
              </a:rPr>
              <a:t>Multiple API instances, auto-scaling workers, load balancer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Implementation Timeline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0A9A2"/>
                </a:solidFill>
              </a:rPr>
              <a:t>10 Phases | 42+ Weeks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4548"/>
                </a:solidFill>
              </a:rPr>
              <a:t>Development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7D9F845-FAC5-E654-2E49-F61645FBA207}"/>
              </a:ext>
            </a:extLst>
          </p:cNvPr>
          <p:cNvGrpSpPr/>
          <p:nvPr/>
        </p:nvGrpSpPr>
        <p:grpSpPr>
          <a:xfrm>
            <a:off x="365760" y="868681"/>
            <a:ext cx="6878713" cy="4059936"/>
            <a:chOff x="365760" y="868680"/>
            <a:chExt cx="8412480" cy="4965192"/>
          </a:xfrm>
        </p:grpSpPr>
        <p:sp>
          <p:nvSpPr>
            <p:cNvPr id="7" name="Shape 5"/>
            <p:cNvSpPr/>
            <p:nvPr/>
          </p:nvSpPr>
          <p:spPr>
            <a:xfrm>
              <a:off x="365760" y="86868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502920" y="93268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30A9A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502920" y="93268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0</a:t>
              </a:r>
              <a:endParaRPr lang="en-US" sz="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417320" y="86868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Planning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834640" y="93268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2834640" y="93268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1-2</a:t>
              </a:r>
              <a:endParaRPr lang="en-US" sz="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834640" y="93268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1-2</a:t>
              </a:r>
              <a:endParaRPr lang="en-US" sz="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0" y="86868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Requirements, architecture, team setup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65760" y="137160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502920" y="143560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034548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502920" y="143560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1</a:t>
              </a:r>
              <a:endParaRPr lang="en-US" sz="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17320" y="137160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Foundation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834640" y="143560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2834640" y="143560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3-6</a:t>
              </a:r>
              <a:endParaRPr lang="en-US" sz="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834640" y="143560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3-6</a:t>
              </a:r>
              <a:endParaRPr lang="en-US" sz="8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114800" y="137160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Auth, profiles, DB setup, API scaffolding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65760" y="187452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502920" y="193852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FE793F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502920" y="193852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2</a:t>
              </a:r>
              <a:endParaRPr lang="en-US" sz="8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417320" y="187452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MVP Jobs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834640" y="193852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2834640" y="193852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7-12</a:t>
              </a:r>
              <a:endParaRPr lang="en-US" sz="8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2834640" y="193852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7-12</a:t>
              </a:r>
              <a:endParaRPr lang="en-US" sz="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114800" y="187452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Job listings, search, applications, basic matching</a:t>
              </a:r>
              <a:endParaRPr lang="en-US" sz="9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65760" y="237744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32" name="Shape 30"/>
            <p:cNvSpPr/>
            <p:nvPr/>
          </p:nvSpPr>
          <p:spPr>
            <a:xfrm>
              <a:off x="502920" y="244144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30A9A2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502920" y="244144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3</a:t>
              </a:r>
              <a:endParaRPr lang="en-US" sz="8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417320" y="237744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Smart Matching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834640" y="244144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2834640" y="244144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13-16</a:t>
              </a:r>
              <a:endParaRPr lang="en-US" sz="8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834640" y="244144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13-16</a:t>
              </a:r>
              <a:endParaRPr lang="en-US" sz="8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114800" y="237744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AI matching, scoring, explainability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65760" y="288036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502920" y="294436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034548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502920" y="294436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4</a:t>
              </a:r>
              <a:endParaRPr lang="en-US" sz="8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1417320" y="288036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Recruitment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2834640" y="294436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2834640" y="294436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17-21</a:t>
              </a:r>
              <a:endParaRPr lang="en-US" sz="8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2834640" y="294436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17-21</a:t>
              </a:r>
              <a:endParaRPr lang="en-US" sz="8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4114800" y="288036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Company profiles, hiring pipeline, messaging</a:t>
              </a:r>
              <a:endParaRPr lang="en-US" sz="9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365760" y="338328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48" name="Shape 46"/>
            <p:cNvSpPr/>
            <p:nvPr/>
          </p:nvSpPr>
          <p:spPr>
            <a:xfrm>
              <a:off x="502920" y="344728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FE793F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502920" y="344728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5</a:t>
              </a:r>
              <a:endParaRPr lang="en-US" sz="8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417320" y="338328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Assessment</a:t>
              </a:r>
              <a:endParaRPr lang="en-US" sz="10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2834640" y="344728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2834640" y="344728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22-26</a:t>
              </a:r>
              <a:endParaRPr lang="en-US" sz="8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2834640" y="344728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22-26</a:t>
              </a:r>
              <a:endParaRPr lang="en-US" sz="8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4114800" y="338328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Mock interviews, quizzes, skill assessment</a:t>
              </a:r>
              <a:endParaRPr lang="en-US" sz="9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365760" y="388620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56" name="Shape 54"/>
            <p:cNvSpPr/>
            <p:nvPr/>
          </p:nvSpPr>
          <p:spPr>
            <a:xfrm>
              <a:off x="502920" y="395020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30A9A2"/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502920" y="395020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6</a:t>
              </a:r>
              <a:endParaRPr lang="en-US" sz="8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1417320" y="388620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AI Career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2834640" y="395020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2834640" y="395020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27-31</a:t>
              </a:r>
              <a:endParaRPr lang="en-US" sz="8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2834640" y="395020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27-31</a:t>
              </a:r>
              <a:endParaRPr lang="en-US" sz="8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114800" y="388620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CV builder, career assistant, salary intel</a:t>
              </a:r>
              <a:endParaRPr lang="en-US" sz="9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65760" y="438912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64" name="Shape 62"/>
            <p:cNvSpPr/>
            <p:nvPr/>
          </p:nvSpPr>
          <p:spPr>
            <a:xfrm>
              <a:off x="502920" y="445312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034548"/>
            </a:solidFill>
            <a:ln/>
          </p:spPr>
        </p:sp>
        <p:sp>
          <p:nvSpPr>
            <p:cNvPr id="65" name="Text 63"/>
            <p:cNvSpPr/>
            <p:nvPr/>
          </p:nvSpPr>
          <p:spPr>
            <a:xfrm>
              <a:off x="502920" y="445312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7</a:t>
              </a:r>
              <a:endParaRPr lang="en-US" sz="8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1417320" y="438912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Learning</a:t>
              </a:r>
              <a:endParaRPr lang="en-US" sz="10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2834640" y="445312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68" name="Text 66"/>
            <p:cNvSpPr/>
            <p:nvPr/>
          </p:nvSpPr>
          <p:spPr>
            <a:xfrm>
              <a:off x="2834640" y="445312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32-36</a:t>
              </a:r>
              <a:endParaRPr lang="en-US" sz="8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2834640" y="445312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32-36</a:t>
              </a:r>
              <a:endParaRPr lang="en-US" sz="8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114800" y="438912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LMS, courses, live classes, certificates</a:t>
              </a:r>
              <a:endParaRPr lang="en-US" sz="9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65760" y="489204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72" name="Shape 70"/>
            <p:cNvSpPr/>
            <p:nvPr/>
          </p:nvSpPr>
          <p:spPr>
            <a:xfrm>
              <a:off x="502920" y="495604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FE793F"/>
            </a:solidFill>
            <a:ln/>
          </p:spPr>
        </p:sp>
        <p:sp>
          <p:nvSpPr>
            <p:cNvPr id="73" name="Text 71"/>
            <p:cNvSpPr/>
            <p:nvPr/>
          </p:nvSpPr>
          <p:spPr>
            <a:xfrm>
              <a:off x="502920" y="495604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8</a:t>
              </a:r>
              <a:endParaRPr lang="en-US" sz="8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1417320" y="489204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Workforce</a:t>
              </a:r>
              <a:endParaRPr lang="en-US" sz="10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2834640" y="495604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2834640" y="495604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Weeks 37-42</a:t>
              </a:r>
              <a:endParaRPr lang="en-US" sz="8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2834640" y="495604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Weeks 37-42</a:t>
              </a:r>
              <a:endParaRPr lang="en-US" sz="8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4114800" y="489204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Outsourcing, B2B, merchant system</a:t>
              </a:r>
              <a:endParaRPr lang="en-US" sz="9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365760" y="5394960"/>
              <a:ext cx="841248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/>
            <a:effectLst>
              <a:outerShdw blurRad="50800" dist="12700" dir="162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80" name="Shape 78"/>
            <p:cNvSpPr/>
            <p:nvPr/>
          </p:nvSpPr>
          <p:spPr>
            <a:xfrm>
              <a:off x="502920" y="5458968"/>
              <a:ext cx="822960" cy="301752"/>
            </a:xfrm>
            <a:prstGeom prst="roundRect">
              <a:avLst>
                <a:gd name="adj" fmla="val 18182"/>
              </a:avLst>
            </a:prstGeom>
            <a:solidFill>
              <a:srgbClr val="30A9A2"/>
            </a:solidFill>
            <a:ln/>
          </p:spPr>
        </p:sp>
        <p:sp>
          <p:nvSpPr>
            <p:cNvPr id="81" name="Text 79"/>
            <p:cNvSpPr/>
            <p:nvPr/>
          </p:nvSpPr>
          <p:spPr>
            <a:xfrm>
              <a:off x="502920" y="5458968"/>
              <a:ext cx="82296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Phase 9</a:t>
              </a:r>
              <a:endParaRPr lang="en-US" sz="8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1417320" y="539496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34548"/>
                  </a:solidFill>
                </a:rPr>
                <a:t>Scale</a:t>
              </a:r>
              <a:endParaRPr lang="en-US" sz="10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2834640" y="5458968"/>
              <a:ext cx="1188720" cy="301752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/>
          </p:spPr>
        </p:sp>
        <p:sp>
          <p:nvSpPr>
            <p:cNvPr id="84" name="Text 82"/>
            <p:cNvSpPr/>
            <p:nvPr/>
          </p:nvSpPr>
          <p:spPr>
            <a:xfrm>
              <a:off x="2834640" y="545896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Ongoing</a:t>
              </a:r>
              <a:endParaRPr lang="en-US" sz="8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2834640" y="5458968"/>
              <a:ext cx="118872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F2937"/>
                  </a:solidFill>
                </a:rPr>
                <a:t>Ongoing</a:t>
              </a:r>
              <a:endParaRPr lang="en-US" sz="8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4114800" y="5394960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</a:rPr>
                <a:t>Performance, monitoring, new features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3454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114800"/>
            <a:ext cx="3657600" cy="3657600"/>
          </a:xfrm>
          <a:prstGeom prst="ellipse">
            <a:avLst/>
          </a:prstGeom>
          <a:solidFill>
            <a:srgbClr val="30A9A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0A9A2"/>
                </a:solidFill>
              </a:rPr>
              <a:t>TELND — Career &amp; Talent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Designed by Pranta Biswas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0A9A2"/>
                </a:solidFill>
              </a:rPr>
              <a:t>biswaspranta@hotmail.com | 01316397072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Founder of TELND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Proprietary —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3247</Words>
  <Application>Microsoft Office PowerPoint</Application>
  <PresentationFormat>On-screen Show (16:9)</PresentationFormat>
  <Paragraphs>813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TELND Complete Documentation</dc:title>
  <dc:subject>PptxGenJS Presentation</dc:subject>
  <dc:creator>Pranta Biswas</dc:creator>
  <cp:lastModifiedBy>Pranta Biswas</cp:lastModifiedBy>
  <cp:revision>13</cp:revision>
  <dcterms:created xsi:type="dcterms:W3CDTF">2026-09-12T18:09:12Z</dcterms:created>
  <dcterms:modified xsi:type="dcterms:W3CDTF">2026-09-12T19:10:44Z</dcterms:modified>
</cp:coreProperties>
</file>