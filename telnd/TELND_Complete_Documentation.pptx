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128" y="-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02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17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B2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TELND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0A9A2"/>
                </a:solidFill>
              </a:rPr>
              <a:t>Career &amp; Talent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0" y="3931920"/>
            <a:ext cx="219456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Complete Project Documentation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Version 1.0 | September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A9A2"/>
                </a:solidFill>
              </a:rPr>
              <a:t>Designed by Pranta Biswas | biswaspranta@hotmail.com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" cy="384048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457200" cy="384048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664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Product Vision &amp; Overview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457200" cy="384048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396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1396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Features &amp; Capabilities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457200" cy="384048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151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6151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Technical Architecture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457200" cy="384048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906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090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457200" cy="384048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6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5661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Database Design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457200" cy="384048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41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041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API Reference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517136"/>
            <a:ext cx="457200" cy="384048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171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5171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Security &amp; Authentication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992624"/>
            <a:ext cx="457200" cy="384048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926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9926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Deployment &amp; Scaling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468112"/>
            <a:ext cx="457200" cy="384048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468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54681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Implementation Timeline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Platform Overview &amp; Core 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3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What is TELND?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4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TELND is a comprehensive career and talent ecosystem focused on Bangladesh that helps people prepare for careers, discover opportunities, prove their skills, get hired, and continue growing.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3454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Practice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Offer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E793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Every major feature must strengthen at least one part of this journey.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A9A2"/>
                </a:solidFill>
              </a:rPr>
              <a:t>Bangladesh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Target Market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474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793F"/>
                </a:solidFill>
              </a:rPr>
              <a:t>Career Lifecycle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38328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Core Focus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4747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4548"/>
                </a:solidFill>
              </a:rPr>
              <a:t>Smart Matching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093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AI-Powered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Product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5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Jobs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Job opportunities marketplace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Hire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Employer recruitment 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E7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Assess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Company assessments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3454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Mock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Interview &amp; test preparation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2004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6908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Learn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2044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Courses and learning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2004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E793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4548"/>
                </a:solidFill>
              </a:rPr>
              <a:t>TELND Workforce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46520" y="3931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Recruitment/outsourcing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Features &amp; Capabilities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Comprehensive Platform Functionality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6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Authentication &amp; User Profiles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7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Authentication Methods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Email + Password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Phone + OTP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225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Google OAuth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066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Facebook OAuth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906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LinkedIn OAuth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Candidate Profile Sections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 Personal Information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38528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38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 Professional Info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322576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3.  Education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706624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06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4.  Skills &amp; Experience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090672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090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5.  Portfolio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6.  TELND Career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03454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Security Features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443484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Password hashing (bcrypt, 12+ rounds)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6542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JWT with 15min access / 7 day refresh tokens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87375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Refresh token rotation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0932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Multi-factor authentication (MFA)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531266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Session management with device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AI-Powered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8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AI Career Assistant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Natural-language job search, CV improvement, interview prep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3212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Smart Job Matching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Skills, experience, location, salary-based matching with explainable scores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3454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44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AI CV Builder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Professional templates, AI content generation, job-specific optimization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Mock Interviews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Voice/video/text interviews with AI evaluation and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4434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34440" y="4434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Skill Gap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846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Compare current skills with target role, recommend courses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2976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4434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34548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32120" y="4434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4548"/>
                </a:solidFill>
              </a:rPr>
              <a:t>Salary Intelligence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4846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Market estimates by role, location, experience level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System Design &amp;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9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10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4630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Web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 19 + Tailwind CSS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Mobile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Dart + Riverpod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34548"/>
                </a:solidFill>
              </a:rPr>
              <a:t>▼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828800" y="274320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034548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Hono API Gateway (TypeScript)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34548"/>
                </a:solidFill>
              </a:rPr>
              <a:t>▼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 + PostGIS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Primary Database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7490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 + BullMQ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Cache &amp; Queues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 R2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Object Storage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WebSocket 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66344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Background Workers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466344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Google Maps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0880" y="46634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4663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SSLCommerz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11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18872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Next.js 15, React 19, TypeScript, 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E793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5727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Flutter, Dart, Riverpod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56816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3454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568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95681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Hono (TypeScript)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408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4086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PostgreSQL + PostGIS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E793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24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Cache/Queue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72491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Redis + BullMQ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1089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Prisma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30A9A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93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4930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Zod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77056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770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877056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Cloudflare R2 (S3-compatible)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61104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3454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611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26110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Google Maps API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64515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30A9A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451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64515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SSLCommerz, bKash, Nagad, Rocket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02920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E793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0292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CDN/DDoS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50292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Cloudflare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413248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3454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4132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68880" y="541324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OpenAI API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Database 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77 Models | PostgreSQL + PostGIS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12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Database Models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13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3454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Total: 77 Database Models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9A2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User &amp;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E793F"/>
                </a:solidFill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23360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Candidate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4548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2057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Employer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9A2"/>
                </a:solidFill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Job System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E793F"/>
                </a:solidFill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023360" y="3108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Tutor System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97180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4548"/>
                </a:solidFill>
              </a:rPr>
              <a:t>10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49440" y="31089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Merchant System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9A2"/>
                </a:solidFill>
              </a:rPr>
              <a:t>10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9728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LMS System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E793F"/>
                </a:solidFill>
              </a:rPr>
              <a:t>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02336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Packages &amp; Payment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02336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4548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49440" y="41605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Admin System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0749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5166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9A2"/>
                </a:solidFill>
              </a:rPr>
              <a:t>2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9728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Support System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50749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74720" y="5166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E793F"/>
                </a:solidFill>
              </a:rPr>
              <a:t>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02336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Map System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0749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0" y="5166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34548"/>
                </a:solidFill>
              </a:rPr>
              <a:t>26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94944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Other Systems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API Reference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120+ Endpoints | RESTful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14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API Endpoints by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15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Jobs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 endpoints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Users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 endpoints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Companies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 endpoints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15 endpoints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0604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0604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Map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604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9 endpoints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5488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Packages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10 endpoints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2560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037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🎧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0372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Support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7 endpoints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5720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Merchant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20 endpoints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931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0604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6060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LMS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60604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16 endpoints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931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75488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Analytics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6 endpoints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39319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0372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90372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4548"/>
                </a:solidFill>
              </a:rPr>
              <a:t>Tutor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0372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8 endpoints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303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30A9A2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Total: 102+ API Endpoints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Platform Features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Comprehensive Feature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16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Map &amp; Location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17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Location Display Rules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0A9A2"/>
                </a:solidFill>
              </a:rPr>
              <a:t>Exact Location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Full address + precise coordinates</a:t>
            </a:r>
            <a:endParaRPr lang="en-US" sz="1100" dirty="0"/>
          </a:p>
          <a:p>
            <a:pPr marL="0" indent="0">
              <a:lnSpc>
                <a:spcPts val="14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Used for: Jobs, Companies, Merchants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793F"/>
                </a:solidFill>
              </a:rPr>
              <a:t>Approximate 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Area name + coords ±500m</a:t>
            </a:r>
            <a:endParaRPr lang="en-US" sz="1100" dirty="0"/>
          </a:p>
          <a:p>
            <a:pPr marL="0" indent="0">
              <a:lnSpc>
                <a:spcPts val="14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Used for: Tutors, Freelancers, Creators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Map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Interactive map with clustered markers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Filter by type (jobs, tutors, merchants)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2494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Search by location/area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968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Bookmark favorite locations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Auto-sync with listings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Geocoding with Redis caching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39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PostGIS for spatial queries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Merchant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18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Supported Institution Types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Coaching Centers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FE793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FE793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06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Universities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90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Institutes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Core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Staff management (Owner, Admin, Teacher)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Student enrollment &amp;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94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Course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968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Attendance tracking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944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Exam creation &amp; result publishing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Fee collection &amp;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639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Announcement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9867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Routine/schedule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Learning Management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19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Course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Modules &amp; sections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Video, Text, Quiz lessons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Categories &amp; tags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Prerequisites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1887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E793F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17373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WebRTC video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Screen sharing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Chat during class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Recording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03454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Assessments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Multiple choice quizzes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File upload assignments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Auto-grading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Peer 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1887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30A9A2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Progress Tracking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17373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Lesson completion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Quiz scores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Certificates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Packages &amp; Monetization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Subscription Tiers &amp; Revenue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20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Subscription Packages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21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30A9A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Packages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Free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Premium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A9A2"/>
                </a:solidFill>
              </a:rPr>
              <a:t>৳0-500/mo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1887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E793F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Employer Packages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Per Job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Monthly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Yearly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Enterprise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793F"/>
                </a:solidFill>
              </a:rPr>
              <a:t>৳0-40K/mo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Merchant Packages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Starter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Growth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 Enterprise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4548"/>
                </a:solidFill>
              </a:rPr>
              <a:t>৳0-20K/mo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Employer Packages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22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708465" cy="3660995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1708465" cy="650844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29398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514142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৳500/jobs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9233" y="20022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1 job listings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9233" y="23683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Basic candidate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9233" y="2734473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Standard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69053" y="1188720"/>
            <a:ext cx="1708465" cy="3660995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69053" y="1188720"/>
            <a:ext cx="1708465" cy="650844"/>
          </a:xfrm>
          <a:prstGeom prst="roundRect">
            <a:avLst>
              <a:gd name="adj" fmla="val 12500"/>
            </a:avLst>
          </a:prstGeom>
          <a:solidFill>
            <a:srgbClr val="FE793F"/>
          </a:solidFill>
          <a:ln/>
        </p:spPr>
      </p:sp>
      <p:sp>
        <p:nvSpPr>
          <p:cNvPr id="16" name="Text 14"/>
          <p:cNvSpPr/>
          <p:nvPr/>
        </p:nvSpPr>
        <p:spPr>
          <a:xfrm>
            <a:off x="2369053" y="1229398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69053" y="1514142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৳1,000/jobs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91086" y="20022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1 job listings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91086" y="23683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Advanced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91086" y="2734473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Priority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80906" y="1188720"/>
            <a:ext cx="1708465" cy="3660995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80906" y="1188720"/>
            <a:ext cx="1708465" cy="650844"/>
          </a:xfrm>
          <a:prstGeom prst="roundRect">
            <a:avLst>
              <a:gd name="adj" fmla="val 12500"/>
            </a:avLst>
          </a:prstGeom>
          <a:solidFill>
            <a:srgbClr val="034548"/>
          </a:solidFill>
          <a:ln/>
        </p:spPr>
      </p:sp>
      <p:sp>
        <p:nvSpPr>
          <p:cNvPr id="23" name="Text 21"/>
          <p:cNvSpPr/>
          <p:nvPr/>
        </p:nvSpPr>
        <p:spPr>
          <a:xfrm>
            <a:off x="4280906" y="1229398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Platinum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80906" y="1514142"/>
            <a:ext cx="1708465" cy="284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৳1,200/jobs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02939" y="20022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1 job listings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02939" y="2368374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Dedicated manager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02939" y="2734473"/>
            <a:ext cx="1464398" cy="325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✓  API access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VIP Employer Packages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22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6A0C9F-2568-FBDD-B9B1-2A07BAE354A9}"/>
              </a:ext>
            </a:extLst>
          </p:cNvPr>
          <p:cNvGrpSpPr/>
          <p:nvPr/>
        </p:nvGrpSpPr>
        <p:grpSpPr>
          <a:xfrm>
            <a:off x="457200" y="1188720"/>
            <a:ext cx="7444024" cy="3660995"/>
            <a:chOff x="457200" y="1188720"/>
            <a:chExt cx="8366760" cy="4114800"/>
          </a:xfrm>
        </p:grpSpPr>
        <p:sp>
          <p:nvSpPr>
            <p:cNvPr id="7" name="Shape 5"/>
            <p:cNvSpPr/>
            <p:nvPr/>
          </p:nvSpPr>
          <p:spPr>
            <a:xfrm>
              <a:off x="457200" y="1188720"/>
              <a:ext cx="1920240" cy="41148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57200" y="1188720"/>
              <a:ext cx="1920240" cy="731520"/>
            </a:xfrm>
            <a:prstGeom prst="roundRect">
              <a:avLst>
                <a:gd name="adj" fmla="val 12500"/>
              </a:avLst>
            </a:prstGeom>
            <a:solidFill>
              <a:srgbClr val="64748B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7200" y="123444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Silver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৳5,000/mo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210312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10 job listings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94360" y="25146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Basic candidate search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94360" y="292608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Standard analytics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606040" y="1188720"/>
              <a:ext cx="1920240" cy="41148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2606040" y="1188720"/>
              <a:ext cx="1920240" cy="731520"/>
            </a:xfrm>
            <a:prstGeom prst="roundRect">
              <a:avLst>
                <a:gd name="adj" fmla="val 12500"/>
              </a:avLst>
            </a:prstGeom>
            <a:solidFill>
              <a:srgbClr val="FE793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2606040" y="123444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Gold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60604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৳15,000/mo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743200" y="210312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50 job listings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743200" y="25146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Advanced search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743200" y="292608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Priority support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754880" y="1188720"/>
              <a:ext cx="1920240" cy="41148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754880" y="1188720"/>
              <a:ext cx="1920240" cy="731520"/>
            </a:xfrm>
            <a:prstGeom prst="roundRect">
              <a:avLst>
                <a:gd name="adj" fmla="val 12500"/>
              </a:avLst>
            </a:prstGeom>
            <a:solidFill>
              <a:srgbClr val="034548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754880" y="123444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Platinum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5488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৳40,000/mo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92040" y="210312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Unlimited listings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892040" y="25146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Dedicated manager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92040" y="292608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API access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903720" y="1188720"/>
              <a:ext cx="1920240" cy="41148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/>
            <a:effectLst>
              <a:outerShdw blurRad="50800" dist="25400" dir="162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6903720" y="1188720"/>
              <a:ext cx="1920240" cy="731520"/>
            </a:xfrm>
            <a:prstGeom prst="roundRect">
              <a:avLst>
                <a:gd name="adj" fmla="val 12500"/>
              </a:avLst>
            </a:prstGeom>
            <a:solidFill>
              <a:srgbClr val="30A9A2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6903720" y="123444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Enterprise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903720" y="1554480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Custom</a:t>
              </a:r>
              <a:endParaRPr lang="en-US" sz="11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040880" y="210312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Full access</a:t>
              </a:r>
              <a:endParaRPr lang="en-US" sz="11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040880" y="25146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Custom solutions</a:t>
              </a:r>
              <a:endParaRPr lang="en-US" sz="11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7040880" y="292608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2937"/>
                  </a:solidFill>
                </a:rPr>
                <a:t>✓  SLA guarantee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0393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Escrow Payment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23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Deposit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Client deposits funds into TELND escrow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6459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737360"/>
            <a:ext cx="640080" cy="64008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793F"/>
                </a:solidFill>
              </a:rPr>
              <a:t>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Creator/Freelancer completes 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737360"/>
            <a:ext cx="640080" cy="64008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4548"/>
                </a:solidFill>
              </a:rPr>
              <a:t>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Client reviews and approves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64592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43800" y="1737360"/>
            <a:ext cx="640080" cy="64008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9A2"/>
                </a:solidFill>
              </a:rPr>
              <a:t>Release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Funds released minus fee (3-5%)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0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Transaction Fees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Premium Creator Deals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793F"/>
                </a:solidFill>
              </a:rPr>
              <a:t>5%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432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Freelance Projects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793F"/>
                </a:solidFill>
              </a:rPr>
              <a:t>3-5%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B2B Services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793F"/>
                </a:solidFill>
              </a:rPr>
              <a:t>2-4%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665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Course Sales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E793F"/>
                </a:solidFill>
              </a:rPr>
              <a:t>20-30%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Security &amp; Compliance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Multi-Layer Protection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24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Security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25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Zod Schemas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JWT + Sessions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77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Authorization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Role-Based (RBAC)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774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Redis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383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Prisma ORM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383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34548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Encryption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AES-256 / TLS 1.3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30A9A2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4300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DDoS Protection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Cloudflare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2062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43891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E793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068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4548"/>
                </a:solidFill>
              </a:rPr>
              <a:t>Document Security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4068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Encrypted Storage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Deployment &amp; Scaling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Production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26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Deployment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27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AWS RDS / Supabase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88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Upstash / Redis Cloud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188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Cloudflare R2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30A9A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CDN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Cloudflare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2834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28346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E793F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Hosting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Vercel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8346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8346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3454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Hosting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548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Railway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548"/>
                </a:solidFill>
              </a:rPr>
              <a:t>Scaling Strategy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720" y="4160520"/>
            <a:ext cx="35995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Horizontal: Multiple API instances, Worker scaling, Read replicas  |  Vertical: Database upgrade, Redis memory, API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1645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E793F"/>
                </a:solidFill>
              </a:rPr>
              <a:t>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Implementation Timeline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A9A2"/>
                </a:solidFill>
              </a:rPr>
              <a:t>10 Phases | 42+ Weeks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28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45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548"/>
                </a:solidFill>
              </a:rPr>
              <a:t>Development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30A9A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TELND | Confidential | 29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0A9A2"/>
                </a:solidFill>
              </a:rPr>
              <a:t>Design by Pranta Biswas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3533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80160"/>
            <a:ext cx="320040" cy="3200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188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Phase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2618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618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1-2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18105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1737360"/>
            <a:ext cx="320040" cy="3200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E793F"/>
                </a:solidFill>
              </a:rPr>
              <a:t>Phase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7190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E793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190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3-6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22677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2194560"/>
            <a:ext cx="320040" cy="3200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Phase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MVP Jobs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1762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3454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1762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7-12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27249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2651760"/>
            <a:ext cx="320040" cy="3200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Smart Matching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6334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6334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13-16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7280" y="31821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" y="3108960"/>
            <a:ext cx="320040" cy="3200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33" name="Text 31"/>
          <p:cNvSpPr/>
          <p:nvPr/>
        </p:nvSpPr>
        <p:spPr>
          <a:xfrm>
            <a:off x="146304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E793F"/>
                </a:solidFill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Recruitment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30906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E793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090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17-21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36393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960120" y="3566160"/>
            <a:ext cx="320040" cy="3200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39" name="Text 37"/>
          <p:cNvSpPr/>
          <p:nvPr/>
        </p:nvSpPr>
        <p:spPr>
          <a:xfrm>
            <a:off x="146304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Phase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Assessment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35478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34548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5478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22-26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7280" y="40965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960120" y="4023360"/>
            <a:ext cx="320040" cy="3200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45" name="Text 43"/>
          <p:cNvSpPr/>
          <p:nvPr/>
        </p:nvSpPr>
        <p:spPr>
          <a:xfrm>
            <a:off x="146304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Phase 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5603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AI Career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0" y="40050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40050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27-31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97280" y="45537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960120" y="4480560"/>
            <a:ext cx="320040" cy="320040"/>
          </a:xfrm>
          <a:prstGeom prst="ellipse">
            <a:avLst/>
          </a:prstGeom>
          <a:solidFill>
            <a:srgbClr val="FE793F"/>
          </a:solidFill>
          <a:ln/>
        </p:spPr>
      </p:sp>
      <p:sp>
        <p:nvSpPr>
          <p:cNvPr id="51" name="Text 49"/>
          <p:cNvSpPr/>
          <p:nvPr/>
        </p:nvSpPr>
        <p:spPr>
          <a:xfrm>
            <a:off x="1463040" y="4389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E793F"/>
                </a:solidFill>
              </a:rPr>
              <a:t>Phase 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6032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Learning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9200" y="44622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E793F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4622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32-36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97280" y="50109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960120" y="4937760"/>
            <a:ext cx="320040" cy="320040"/>
          </a:xfrm>
          <a:prstGeom prst="ellipse">
            <a:avLst/>
          </a:prstGeom>
          <a:solidFill>
            <a:srgbClr val="034548"/>
          </a:solidFill>
          <a:ln/>
        </p:spPr>
      </p:sp>
      <p:sp>
        <p:nvSpPr>
          <p:cNvPr id="57" name="Text 55"/>
          <p:cNvSpPr/>
          <p:nvPr/>
        </p:nvSpPr>
        <p:spPr>
          <a:xfrm>
            <a:off x="1463040" y="4846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4548"/>
                </a:solidFill>
              </a:rPr>
              <a:t>Phase 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560320" y="4846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Workforce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029200" y="49194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34548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0" y="49194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37-42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97280" y="5468112"/>
            <a:ext cx="36576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Shape 60"/>
          <p:cNvSpPr/>
          <p:nvPr/>
        </p:nvSpPr>
        <p:spPr>
          <a:xfrm>
            <a:off x="960120" y="5394960"/>
            <a:ext cx="320040" cy="320040"/>
          </a:xfrm>
          <a:prstGeom prst="ellipse">
            <a:avLst/>
          </a:prstGeom>
          <a:solidFill>
            <a:srgbClr val="30A9A2"/>
          </a:solidFill>
          <a:ln/>
        </p:spPr>
      </p:sp>
      <p:sp>
        <p:nvSpPr>
          <p:cNvPr id="63" name="Text 61"/>
          <p:cNvSpPr/>
          <p:nvPr/>
        </p:nvSpPr>
        <p:spPr>
          <a:xfrm>
            <a:off x="146304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0A9A2"/>
                </a:solidFill>
              </a:rPr>
              <a:t>Phase 9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56032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Scale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29200" y="537667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0A9A2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0" y="5376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Weeks Ongoing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3454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114800"/>
            <a:ext cx="3657600" cy="3657600"/>
          </a:xfrm>
          <a:prstGeom prst="ellipse">
            <a:avLst/>
          </a:prstGeom>
          <a:solidFill>
            <a:srgbClr val="30A9A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0A9A2"/>
                </a:solidFill>
              </a:rPr>
              <a:t>TELND — Career &amp; Talent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FE79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Designed by Pranta Biswas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0A9A2"/>
                </a:solidFill>
              </a:rPr>
              <a:t>biswaspranta@hotmail.com | 01316397072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Founder of TELND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Proprietary —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1556</Words>
  <Application>Microsoft Office PowerPoint</Application>
  <PresentationFormat>On-screen Show (16:9)</PresentationFormat>
  <Paragraphs>544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TELND Complete Documentation</dc:title>
  <dc:subject>Career &amp; Talent Platform</dc:subject>
  <dc:creator>Pranta Biswas</dc:creator>
  <cp:lastModifiedBy>Pranta Biswas</cp:lastModifiedBy>
  <cp:revision>3</cp:revision>
  <dcterms:created xsi:type="dcterms:W3CDTF">2026-09-12T17:45:23Z</dcterms:created>
  <dcterms:modified xsi:type="dcterms:W3CDTF">2026-09-12T19:21:30Z</dcterms:modified>
</cp:coreProperties>
</file>